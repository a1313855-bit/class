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74DFF-2799-4DBD-B3C7-D69AB2AE13DF}" type="datetimeFigureOut">
              <a:rPr lang="zh-TW" altLang="en-US" smtClean="0"/>
              <a:t>2025/1/20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CBE622C5-3DAE-474D-8E4E-4B80EDD6A3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3337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74DFF-2799-4DBD-B3C7-D69AB2AE13DF}" type="datetimeFigureOut">
              <a:rPr lang="zh-TW" altLang="en-US" smtClean="0"/>
              <a:t>2025/1/20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22C5-3DAE-474D-8E4E-4B80EDD6A3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5147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74DFF-2799-4DBD-B3C7-D69AB2AE13DF}" type="datetimeFigureOut">
              <a:rPr lang="zh-TW" altLang="en-US" smtClean="0"/>
              <a:t>2025/1/20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CBE622C5-3DAE-474D-8E4E-4B80EDD6A3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4894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74DFF-2799-4DBD-B3C7-D69AB2AE13DF}" type="datetimeFigureOut">
              <a:rPr lang="zh-TW" altLang="en-US" smtClean="0"/>
              <a:t>2025/1/20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22C5-3DAE-474D-8E4E-4B80EDD6A3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9667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74DFF-2799-4DBD-B3C7-D69AB2AE13DF}" type="datetimeFigureOut">
              <a:rPr lang="zh-TW" altLang="en-US" smtClean="0"/>
              <a:t>2025/1/20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22C5-3DAE-474D-8E4E-4B80EDD6A3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1708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74DFF-2799-4DBD-B3C7-D69AB2AE13DF}" type="datetimeFigureOut">
              <a:rPr lang="zh-TW" altLang="en-US" smtClean="0"/>
              <a:t>2025/1/20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22C5-3DAE-474D-8E4E-4B80EDD6A3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7721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74DFF-2799-4DBD-B3C7-D69AB2AE13DF}" type="datetimeFigureOut">
              <a:rPr lang="zh-TW" altLang="en-US" smtClean="0"/>
              <a:t>2025/1/20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22C5-3DAE-474D-8E4E-4B80EDD6A3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2403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74DFF-2799-4DBD-B3C7-D69AB2AE13DF}" type="datetimeFigureOut">
              <a:rPr lang="zh-TW" altLang="en-US" smtClean="0"/>
              <a:t>2025/1/20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22C5-3DAE-474D-8E4E-4B80EDD6A3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5717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74DFF-2799-4DBD-B3C7-D69AB2AE13DF}" type="datetimeFigureOut">
              <a:rPr lang="zh-TW" altLang="en-US" smtClean="0"/>
              <a:t>2025/1/20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22C5-3DAE-474D-8E4E-4B80EDD6A3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0115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74DFF-2799-4DBD-B3C7-D69AB2AE13DF}" type="datetimeFigureOut">
              <a:rPr lang="zh-TW" altLang="en-US" smtClean="0"/>
              <a:t>2025/1/20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CBE622C5-3DAE-474D-8E4E-4B80EDD6A3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0309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74DFF-2799-4DBD-B3C7-D69AB2AE13DF}" type="datetimeFigureOut">
              <a:rPr lang="zh-TW" altLang="en-US" smtClean="0"/>
              <a:t>2025/1/20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CBE622C5-3DAE-474D-8E4E-4B80EDD6A3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95671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74DFF-2799-4DBD-B3C7-D69AB2AE13DF}" type="datetimeFigureOut">
              <a:rPr lang="zh-TW" altLang="en-US" smtClean="0"/>
              <a:t>2025/1/20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CBE622C5-3DAE-474D-8E4E-4B80EDD6A33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443279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74DFF-2799-4DBD-B3C7-D69AB2AE13DF}" type="datetimeFigureOut">
              <a:rPr lang="zh-TW" altLang="en-US" smtClean="0"/>
              <a:t>2025/1/20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CBE622C5-3DAE-474D-8E4E-4B80EDD6A3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60359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74DFF-2799-4DBD-B3C7-D69AB2AE13DF}" type="datetimeFigureOut">
              <a:rPr lang="zh-TW" altLang="en-US" smtClean="0"/>
              <a:t>2025/1/20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22C5-3DAE-474D-8E4E-4B80EDD6A3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15809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74DFF-2799-4DBD-B3C7-D69AB2AE13DF}" type="datetimeFigureOut">
              <a:rPr lang="zh-TW" altLang="en-US" smtClean="0"/>
              <a:t>2025/1/20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22C5-3DAE-474D-8E4E-4B80EDD6A3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33356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74DFF-2799-4DBD-B3C7-D69AB2AE13DF}" type="datetimeFigureOut">
              <a:rPr lang="zh-TW" altLang="en-US" smtClean="0"/>
              <a:t>2025/1/20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22C5-3DAE-474D-8E4E-4B80EDD6A3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34042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9E274DFF-2799-4DBD-B3C7-D69AB2AE13DF}" type="datetimeFigureOut">
              <a:rPr lang="zh-TW" altLang="en-US" smtClean="0"/>
              <a:t>2025/1/20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CBE622C5-3DAE-474D-8E4E-4B80EDD6A3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4537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274DFF-2799-4DBD-B3C7-D69AB2AE13DF}" type="datetimeFigureOut">
              <a:rPr lang="zh-TW" altLang="en-US" smtClean="0"/>
              <a:t>2025/1/20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E622C5-3DAE-474D-8E4E-4B80EDD6A3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14281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TW" dirty="0"/>
              <a:t>Java SE Developer</a:t>
            </a:r>
            <a:br>
              <a:rPr lang="en-US" altLang="zh-TW" dirty="0"/>
            </a:br>
            <a:r>
              <a:rPr lang="en-US" altLang="zh-TW" dirty="0"/>
              <a:t>1z0-819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zh-TW" altLang="en-US" dirty="0"/>
              <a:t>講師</a:t>
            </a:r>
            <a:r>
              <a:rPr lang="en-US" altLang="zh-TW" dirty="0"/>
              <a:t>:</a:t>
            </a:r>
            <a:r>
              <a:rPr lang="zh-TW" altLang="en-US" dirty="0" smtClean="0"/>
              <a:t>江聖榮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31765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泛型</a:t>
            </a:r>
            <a:r>
              <a:rPr lang="en-US" altLang="zh-TW" dirty="0"/>
              <a:t>(generics)&amp;</a:t>
            </a:r>
            <a:r>
              <a:rPr lang="zh-TW" altLang="en-US" dirty="0"/>
              <a:t>集合</a:t>
            </a:r>
            <a:r>
              <a:rPr lang="en-US" altLang="zh-TW" dirty="0"/>
              <a:t>(collection)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/>
              <a:t>Generics-&gt;</a:t>
            </a:r>
            <a:r>
              <a:rPr lang="zh-TW" altLang="en-US" dirty="0"/>
              <a:t>不定</a:t>
            </a:r>
            <a:r>
              <a:rPr lang="zh-TW" altLang="en-US" dirty="0" smtClean="0"/>
              <a:t>類型</a:t>
            </a:r>
            <a:endParaRPr lang="en-US" altLang="zh-TW" dirty="0" smtClean="0"/>
          </a:p>
          <a:p>
            <a:r>
              <a:rPr lang="zh-TW" altLang="en-US" dirty="0"/>
              <a:t>語法</a:t>
            </a:r>
          </a:p>
          <a:p>
            <a:r>
              <a:rPr lang="en-US" altLang="zh-TW" dirty="0"/>
              <a:t>Class </a:t>
            </a:r>
            <a:r>
              <a:rPr lang="zh-TW" altLang="en-US" dirty="0"/>
              <a:t>類別</a:t>
            </a:r>
            <a:r>
              <a:rPr lang="en-US" altLang="zh-TW" dirty="0"/>
              <a:t>&lt;E,T&gt;</a:t>
            </a:r>
          </a:p>
          <a:p>
            <a:pPr marL="0" indent="0">
              <a:buNone/>
            </a:pPr>
            <a:r>
              <a:rPr lang="en-US" altLang="zh-TW" dirty="0"/>
              <a:t>{</a:t>
            </a:r>
          </a:p>
          <a:p>
            <a:pPr marL="457200" lvl="1" indent="0">
              <a:buNone/>
            </a:pPr>
            <a:r>
              <a:rPr lang="en-US" altLang="zh-TW" dirty="0"/>
              <a:t>E </a:t>
            </a:r>
            <a:r>
              <a:rPr lang="zh-TW" altLang="en-US" dirty="0"/>
              <a:t>變數</a:t>
            </a:r>
            <a:r>
              <a:rPr lang="en-US" altLang="zh-TW" dirty="0"/>
              <a:t>;</a:t>
            </a:r>
          </a:p>
          <a:p>
            <a:pPr marL="457200" lvl="1" indent="0">
              <a:buNone/>
            </a:pPr>
            <a:r>
              <a:rPr lang="en-US" altLang="zh-TW" dirty="0"/>
              <a:t>T </a:t>
            </a:r>
            <a:r>
              <a:rPr lang="zh-TW" altLang="en-US" dirty="0"/>
              <a:t>變數</a:t>
            </a:r>
            <a:r>
              <a:rPr lang="en-US" altLang="zh-TW" dirty="0"/>
              <a:t>;</a:t>
            </a:r>
          </a:p>
          <a:p>
            <a:pPr marL="457200" lvl="1" indent="0">
              <a:buNone/>
            </a:pPr>
            <a:r>
              <a:rPr lang="en-US" altLang="zh-TW" dirty="0"/>
              <a:t>Ps: </a:t>
            </a:r>
          </a:p>
          <a:p>
            <a:pPr marL="457200" lvl="1" indent="0">
              <a:buNone/>
            </a:pPr>
            <a:r>
              <a:rPr lang="zh-TW" altLang="en-US" dirty="0"/>
              <a:t>搭配建構式與方法使用</a:t>
            </a:r>
          </a:p>
          <a:p>
            <a:pPr marL="457200" lvl="1" indent="0">
              <a:buNone/>
            </a:pPr>
            <a:r>
              <a:rPr lang="zh-TW" altLang="en-US" dirty="0"/>
              <a:t>限定使用具有 </a:t>
            </a:r>
            <a:r>
              <a:rPr lang="en-US" altLang="zh-TW" dirty="0" err="1" smtClean="0"/>
              <a:t>java.lang.Object</a:t>
            </a:r>
            <a:r>
              <a:rPr lang="zh-TW" altLang="en-US" dirty="0"/>
              <a:t>的類型</a:t>
            </a:r>
          </a:p>
          <a:p>
            <a:pPr marL="0" indent="0">
              <a:buNone/>
            </a:pPr>
            <a:r>
              <a:rPr lang="en-US" altLang="zh-TW" dirty="0"/>
              <a:t>}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TW" altLang="en-US" dirty="0"/>
              <a:t>使用方式</a:t>
            </a:r>
          </a:p>
          <a:p>
            <a:r>
              <a:rPr lang="zh-TW" altLang="en-US" dirty="0"/>
              <a:t>語法</a:t>
            </a:r>
          </a:p>
          <a:p>
            <a:r>
              <a:rPr lang="zh-TW" altLang="en-US" dirty="0"/>
              <a:t>類別</a:t>
            </a:r>
            <a:r>
              <a:rPr lang="en-US" altLang="zh-TW" dirty="0"/>
              <a:t>&lt;</a:t>
            </a:r>
            <a:r>
              <a:rPr lang="zh-TW" altLang="en-US" dirty="0"/>
              <a:t>泛型</a:t>
            </a:r>
            <a:r>
              <a:rPr lang="en-US" altLang="zh-TW" dirty="0"/>
              <a:t>&gt; </a:t>
            </a:r>
            <a:r>
              <a:rPr lang="zh-TW" altLang="en-US" dirty="0"/>
              <a:t>物件名</a:t>
            </a:r>
            <a:r>
              <a:rPr lang="en-US" altLang="zh-TW" dirty="0"/>
              <a:t>=new </a:t>
            </a:r>
            <a:r>
              <a:rPr lang="zh-TW" altLang="en-US" dirty="0"/>
              <a:t>類別</a:t>
            </a:r>
            <a:r>
              <a:rPr lang="en-US" altLang="zh-TW" dirty="0"/>
              <a:t>&lt;&gt;();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21646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Java.util.Collection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TW" altLang="en-US" dirty="0"/>
              <a:t>集合陣列</a:t>
            </a:r>
            <a:r>
              <a:rPr lang="en-US" altLang="zh-TW" dirty="0"/>
              <a:t>,</a:t>
            </a:r>
            <a:r>
              <a:rPr lang="zh-TW" altLang="en-US" dirty="0"/>
              <a:t>又稱動態陣列</a:t>
            </a:r>
          </a:p>
          <a:p>
            <a:r>
              <a:rPr lang="zh-TW" altLang="en-US" dirty="0"/>
              <a:t>與一般陣列</a:t>
            </a:r>
            <a:r>
              <a:rPr lang="en-US" altLang="zh-TW" dirty="0"/>
              <a:t>[]</a:t>
            </a:r>
            <a:r>
              <a:rPr lang="zh-TW" altLang="en-US" dirty="0"/>
              <a:t>區別為</a:t>
            </a:r>
            <a:r>
              <a:rPr lang="en-US" altLang="zh-TW" dirty="0"/>
              <a:t>-&gt;</a:t>
            </a:r>
            <a:r>
              <a:rPr lang="zh-TW" altLang="en-US" dirty="0"/>
              <a:t>無數量限制，可一直增加</a:t>
            </a:r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7600" y="2515835"/>
            <a:ext cx="6080631" cy="3420354"/>
          </a:xfrm>
        </p:spPr>
      </p:pic>
    </p:spTree>
    <p:extLst>
      <p:ext uri="{BB962C8B-B14F-4D97-AF65-F5344CB8AC3E}">
        <p14:creationId xmlns:p14="http://schemas.microsoft.com/office/powerpoint/2010/main" val="3512997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常用</a:t>
            </a:r>
            <a:r>
              <a:rPr lang="en-US" altLang="zh-TW" dirty="0"/>
              <a:t>collection</a:t>
            </a:r>
            <a:r>
              <a:rPr lang="zh-TW" altLang="en-US" dirty="0"/>
              <a:t>集合類別 </a:t>
            </a:r>
            <a:r>
              <a:rPr lang="en-US" altLang="zh-TW" dirty="0"/>
              <a:t>class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altLang="zh-TW" dirty="0" err="1"/>
              <a:t>Java.util.collection</a:t>
            </a:r>
            <a:endParaRPr lang="en-US" altLang="zh-TW" dirty="0"/>
          </a:p>
          <a:p>
            <a:r>
              <a:rPr lang="en-US" altLang="zh-TW" dirty="0"/>
              <a:t>List</a:t>
            </a:r>
          </a:p>
          <a:p>
            <a:pPr lvl="1"/>
            <a:r>
              <a:rPr lang="en-US" altLang="zh-TW" dirty="0" err="1"/>
              <a:t>Arraylist</a:t>
            </a:r>
            <a:endParaRPr lang="en-US" altLang="zh-TW" dirty="0"/>
          </a:p>
          <a:p>
            <a:r>
              <a:rPr lang="en-US" altLang="zh-TW" dirty="0"/>
              <a:t>Set</a:t>
            </a:r>
          </a:p>
          <a:p>
            <a:pPr lvl="1"/>
            <a:r>
              <a:rPr lang="en-US" altLang="zh-TW" dirty="0" err="1"/>
              <a:t>HashSet</a:t>
            </a:r>
            <a:endParaRPr lang="en-US" altLang="zh-TW" dirty="0"/>
          </a:p>
          <a:p>
            <a:pPr lvl="1"/>
            <a:r>
              <a:rPr lang="en-US" altLang="zh-TW" dirty="0" smtClean="0"/>
              <a:t>Sorted</a:t>
            </a:r>
            <a:endParaRPr lang="en-US" altLang="zh-TW" dirty="0"/>
          </a:p>
          <a:p>
            <a:pPr lvl="2"/>
            <a:r>
              <a:rPr lang="en-US" altLang="zh-TW" dirty="0" err="1" smtClean="0"/>
              <a:t>treeSet</a:t>
            </a:r>
            <a:endParaRPr lang="en-US" altLang="zh-TW" dirty="0"/>
          </a:p>
          <a:p>
            <a:r>
              <a:rPr lang="en-US" altLang="zh-TW" dirty="0"/>
              <a:t>Queue</a:t>
            </a:r>
          </a:p>
          <a:p>
            <a:pPr lvl="1"/>
            <a:r>
              <a:rPr lang="en-US" altLang="zh-TW" dirty="0" err="1"/>
              <a:t>PriorityQueue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4350" y="2727009"/>
            <a:ext cx="4962564" cy="2975521"/>
          </a:xfrm>
        </p:spPr>
      </p:pic>
    </p:spTree>
    <p:extLst>
      <p:ext uri="{BB962C8B-B14F-4D97-AF65-F5344CB8AC3E}">
        <p14:creationId xmlns:p14="http://schemas.microsoft.com/office/powerpoint/2010/main" val="3886381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Java.util.Collections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 smtClean="0"/>
              <a:t>Arrays</a:t>
            </a:r>
            <a:r>
              <a:rPr lang="en-US" altLang="zh-TW" dirty="0" smtClean="0">
                <a:sym typeface="Wingdings" panose="05000000000000000000" pitchFamily="2" charset="2"/>
              </a:rPr>
              <a:t>[]</a:t>
            </a:r>
            <a:r>
              <a:rPr lang="zh-TW" altLang="en-US" dirty="0" smtClean="0">
                <a:sym typeface="Wingdings" panose="05000000000000000000" pitchFamily="2" charset="2"/>
              </a:rPr>
              <a:t>陣列</a:t>
            </a:r>
            <a:endParaRPr lang="en-US" altLang="zh-TW" dirty="0" smtClean="0">
              <a:sym typeface="Wingdings" panose="05000000000000000000" pitchFamily="2" charset="2"/>
            </a:endParaRPr>
          </a:p>
          <a:p>
            <a:r>
              <a:rPr lang="en-US" altLang="zh-TW" dirty="0" smtClean="0">
                <a:sym typeface="Wingdings" panose="05000000000000000000" pitchFamily="2" charset="2"/>
              </a:rPr>
              <a:t>Collections</a:t>
            </a:r>
            <a:r>
              <a:rPr lang="zh-TW" altLang="en-US" dirty="0" smtClean="0">
                <a:sym typeface="Wingdings" panose="05000000000000000000" pitchFamily="2" charset="2"/>
              </a:rPr>
              <a:t>限</a:t>
            </a:r>
            <a:r>
              <a:rPr lang="en-US" altLang="zh-TW" smtClean="0">
                <a:sym typeface="Wingdings" panose="05000000000000000000" pitchFamily="2" charset="2"/>
              </a:rPr>
              <a:t>list</a:t>
            </a:r>
            <a:endParaRPr lang="en-US" altLang="zh-TW" dirty="0" smtClean="0"/>
          </a:p>
          <a:p>
            <a:r>
              <a:rPr lang="en-US" altLang="zh-TW" dirty="0" smtClean="0"/>
              <a:t>Sort</a:t>
            </a:r>
            <a:endParaRPr lang="en-US" altLang="zh-TW" dirty="0"/>
          </a:p>
          <a:p>
            <a:r>
              <a:rPr lang="en-US" altLang="zh-TW" dirty="0" err="1"/>
              <a:t>binarySearch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6080" y="2699084"/>
            <a:ext cx="7011265" cy="3295294"/>
          </a:xfrm>
        </p:spPr>
      </p:pic>
    </p:spTree>
    <p:extLst>
      <p:ext uri="{BB962C8B-B14F-4D97-AF65-F5344CB8AC3E}">
        <p14:creationId xmlns:p14="http://schemas.microsoft.com/office/powerpoint/2010/main" val="285890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Map</a:t>
            </a:r>
            <a:r>
              <a:rPr lang="zh-TW" altLang="en-US" dirty="0"/>
              <a:t>集合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/>
              <a:t>Map&lt;</a:t>
            </a:r>
            <a:r>
              <a:rPr lang="en-US" altLang="zh-TW" dirty="0" err="1"/>
              <a:t>k,v</a:t>
            </a:r>
            <a:r>
              <a:rPr lang="en-US" altLang="zh-TW" dirty="0"/>
              <a:t>&gt;</a:t>
            </a:r>
          </a:p>
          <a:p>
            <a:pPr lvl="1"/>
            <a:r>
              <a:rPr lang="en-US" altLang="zh-TW" dirty="0"/>
              <a:t>K-&gt;set</a:t>
            </a:r>
            <a:r>
              <a:rPr lang="zh-TW" altLang="en-US" dirty="0"/>
              <a:t>集合</a:t>
            </a:r>
          </a:p>
          <a:p>
            <a:pPr lvl="1"/>
            <a:r>
              <a:rPr lang="en-US" altLang="zh-TW" dirty="0"/>
              <a:t>V-&gt;collection</a:t>
            </a:r>
            <a:r>
              <a:rPr lang="zh-TW" altLang="en-US" dirty="0"/>
              <a:t>集合</a:t>
            </a:r>
          </a:p>
          <a:p>
            <a:r>
              <a:rPr lang="en-US" altLang="zh-TW" dirty="0" err="1" smtClean="0"/>
              <a:t>HashMap</a:t>
            </a:r>
            <a:r>
              <a:rPr lang="en-US" altLang="zh-TW" dirty="0" smtClean="0"/>
              <a:t>&lt;</a:t>
            </a:r>
            <a:r>
              <a:rPr lang="en-US" altLang="zh-TW" dirty="0" err="1" smtClean="0"/>
              <a:t>k,v</a:t>
            </a:r>
            <a:r>
              <a:rPr lang="en-US" altLang="zh-TW" dirty="0" smtClean="0"/>
              <a:t>&gt;</a:t>
            </a:r>
          </a:p>
          <a:p>
            <a:r>
              <a:rPr lang="en-US" altLang="zh-TW" dirty="0" err="1" smtClean="0"/>
              <a:t>TreeMap</a:t>
            </a:r>
            <a:r>
              <a:rPr lang="en-US" altLang="zh-TW" dirty="0" smtClean="0"/>
              <a:t>&lt;K,V</a:t>
            </a:r>
            <a:r>
              <a:rPr lang="en-US" altLang="zh-TW" dirty="0"/>
              <a:t>&gt;</a:t>
            </a:r>
          </a:p>
          <a:p>
            <a:pPr lvl="1"/>
            <a:r>
              <a:rPr lang="en-US" altLang="zh-TW" dirty="0"/>
              <a:t>K-&gt;keyset():Set</a:t>
            </a:r>
          </a:p>
          <a:p>
            <a:pPr lvl="1"/>
            <a:r>
              <a:rPr lang="en-US" altLang="zh-TW" dirty="0"/>
              <a:t>V-&gt;values():Collections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346" y="2639048"/>
            <a:ext cx="5709713" cy="3213112"/>
          </a:xfrm>
        </p:spPr>
      </p:pic>
    </p:spTree>
    <p:extLst>
      <p:ext uri="{BB962C8B-B14F-4D97-AF65-F5344CB8AC3E}">
        <p14:creationId xmlns:p14="http://schemas.microsoft.com/office/powerpoint/2010/main" val="2821868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與物件導向結合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 smtClean="0"/>
              <a:t>Array</a:t>
            </a:r>
            <a:r>
              <a:rPr lang="zh-TW" altLang="en-US" dirty="0" smtClean="0"/>
              <a:t>陣列</a:t>
            </a:r>
            <a:endParaRPr lang="en-US" altLang="zh-TW" dirty="0" smtClean="0"/>
          </a:p>
          <a:p>
            <a:r>
              <a:rPr lang="en-US" altLang="zh-TW" dirty="0" err="1" smtClean="0"/>
              <a:t>ArrayList</a:t>
            </a:r>
            <a:endParaRPr lang="en-US" altLang="zh-TW" dirty="0" smtClean="0"/>
          </a:p>
          <a:p>
            <a:r>
              <a:rPr lang="en-US" altLang="zh-TW" dirty="0" err="1" smtClean="0"/>
              <a:t>HashSet</a:t>
            </a:r>
            <a:endParaRPr lang="en-US" altLang="zh-TW" dirty="0" smtClean="0"/>
          </a:p>
          <a:p>
            <a:r>
              <a:rPr lang="en-US" altLang="zh-TW" dirty="0" err="1" smtClean="0"/>
              <a:t>TreeSet</a:t>
            </a:r>
            <a:endParaRPr lang="en-US" altLang="zh-TW" dirty="0" smtClean="0"/>
          </a:p>
          <a:p>
            <a:r>
              <a:rPr lang="en-US" altLang="zh-TW" dirty="0" err="1" smtClean="0"/>
              <a:t>PriorityQueue</a:t>
            </a:r>
            <a:endParaRPr lang="en-US" altLang="zh-TW" dirty="0" smtClean="0"/>
          </a:p>
          <a:p>
            <a:r>
              <a:rPr lang="en-US" altLang="zh-TW" dirty="0" smtClean="0"/>
              <a:t>Comparable</a:t>
            </a:r>
            <a:endParaRPr lang="zh-TW" altLang="en-US" dirty="0"/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88644752"/>
              </p:ext>
            </p:extLst>
          </p:nvPr>
        </p:nvGraphicFramePr>
        <p:xfrm>
          <a:off x="5378678" y="2985911"/>
          <a:ext cx="4700588" cy="230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0588">
                  <a:extLst>
                    <a:ext uri="{9D8B030D-6E8A-4147-A177-3AD203B41FA5}">
                      <a16:colId xmlns:a16="http://schemas.microsoft.com/office/drawing/2014/main" val="30860053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Student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9305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+</a:t>
                      </a:r>
                      <a:r>
                        <a:rPr lang="en-US" altLang="zh-TW" dirty="0" err="1" smtClean="0"/>
                        <a:t>name:String</a:t>
                      </a:r>
                      <a:r>
                        <a:rPr lang="en-US" altLang="zh-TW" dirty="0" smtClean="0"/>
                        <a:t>;</a:t>
                      </a:r>
                    </a:p>
                    <a:p>
                      <a:r>
                        <a:rPr lang="en-US" altLang="zh-TW" dirty="0" smtClean="0"/>
                        <a:t>+</a:t>
                      </a:r>
                      <a:r>
                        <a:rPr lang="en-US" altLang="zh-TW" dirty="0" err="1" smtClean="0"/>
                        <a:t>chi:int</a:t>
                      </a:r>
                      <a:r>
                        <a:rPr lang="en-US" altLang="zh-TW" dirty="0" smtClean="0"/>
                        <a:t>;</a:t>
                      </a:r>
                    </a:p>
                    <a:p>
                      <a:r>
                        <a:rPr lang="en-US" altLang="zh-TW" dirty="0" smtClean="0"/>
                        <a:t>+</a:t>
                      </a:r>
                      <a:r>
                        <a:rPr lang="en-US" altLang="zh-TW" dirty="0" err="1" smtClean="0"/>
                        <a:t>eng:int</a:t>
                      </a:r>
                      <a:r>
                        <a:rPr lang="en-US" altLang="zh-TW" dirty="0" smtClean="0"/>
                        <a:t>;</a:t>
                      </a:r>
                    </a:p>
                    <a:p>
                      <a:r>
                        <a:rPr lang="en-US" altLang="zh-TW" dirty="0" smtClean="0"/>
                        <a:t>+</a:t>
                      </a:r>
                      <a:r>
                        <a:rPr lang="en-US" altLang="zh-TW" dirty="0" err="1" smtClean="0"/>
                        <a:t>sum:int</a:t>
                      </a:r>
                      <a:r>
                        <a:rPr lang="en-US" altLang="zh-TW" dirty="0" smtClean="0"/>
                        <a:t>;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166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+Student(</a:t>
                      </a:r>
                      <a:r>
                        <a:rPr lang="zh-TW" altLang="en-US" dirty="0" smtClean="0"/>
                        <a:t>名</a:t>
                      </a:r>
                      <a:r>
                        <a:rPr lang="en-US" altLang="zh-TW" dirty="0" smtClean="0"/>
                        <a:t>,</a:t>
                      </a:r>
                      <a:r>
                        <a:rPr lang="zh-TW" altLang="en-US" dirty="0" smtClean="0"/>
                        <a:t>國文</a:t>
                      </a:r>
                      <a:r>
                        <a:rPr lang="en-US" altLang="zh-TW" dirty="0" smtClean="0"/>
                        <a:t>,</a:t>
                      </a:r>
                      <a:r>
                        <a:rPr lang="zh-TW" altLang="en-US" dirty="0" smtClean="0"/>
                        <a:t>英文</a:t>
                      </a:r>
                      <a:r>
                        <a:rPr lang="en-US" altLang="zh-TW" dirty="0" smtClean="0"/>
                        <a:t>);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5713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+show():void;//</a:t>
                      </a:r>
                      <a:r>
                        <a:rPr lang="zh-TW" altLang="en-US" dirty="0" smtClean="0"/>
                        <a:t>名</a:t>
                      </a:r>
                      <a:r>
                        <a:rPr lang="en-US" altLang="zh-TW" dirty="0" smtClean="0"/>
                        <a:t>,</a:t>
                      </a:r>
                      <a:r>
                        <a:rPr lang="zh-TW" altLang="en-US" dirty="0" smtClean="0"/>
                        <a:t>國文</a:t>
                      </a:r>
                      <a:r>
                        <a:rPr lang="en-US" altLang="zh-TW" dirty="0" smtClean="0"/>
                        <a:t>,</a:t>
                      </a:r>
                      <a:r>
                        <a:rPr lang="zh-TW" altLang="en-US" dirty="0" smtClean="0"/>
                        <a:t>英文</a:t>
                      </a:r>
                      <a:r>
                        <a:rPr lang="en-US" altLang="zh-TW" dirty="0" smtClean="0"/>
                        <a:t>,</a:t>
                      </a:r>
                      <a:r>
                        <a:rPr lang="zh-TW" altLang="en-US" dirty="0" smtClean="0"/>
                        <a:t>總分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4831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378195"/>
      </p:ext>
    </p:extLst>
  </p:cSld>
  <p:clrMapOvr>
    <a:masterClrMapping/>
  </p:clrMapOvr>
</p:sld>
</file>

<file path=ppt/theme/theme1.xml><?xml version="1.0" encoding="utf-8"?>
<a:theme xmlns:a="http://schemas.openxmlformats.org/drawingml/2006/main" name="柏林">
  <a:themeElements>
    <a:clrScheme name="柏林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柏林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柏林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TM04033917[[fn=柏林]]</Template>
  <TotalTime>101</TotalTime>
  <Words>181</Words>
  <Application>Microsoft Office PowerPoint</Application>
  <PresentationFormat>寬螢幕</PresentationFormat>
  <Paragraphs>56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2" baseType="lpstr">
      <vt:lpstr>新細明體</vt:lpstr>
      <vt:lpstr>Arial</vt:lpstr>
      <vt:lpstr>Trebuchet MS</vt:lpstr>
      <vt:lpstr>Wingdings</vt:lpstr>
      <vt:lpstr>柏林</vt:lpstr>
      <vt:lpstr>Java SE Developer 1z0-819</vt:lpstr>
      <vt:lpstr>泛型(generics)&amp;集合(collection)</vt:lpstr>
      <vt:lpstr>Java.util.Collection</vt:lpstr>
      <vt:lpstr>常用collection集合類別 class</vt:lpstr>
      <vt:lpstr>Java.util.Collections</vt:lpstr>
      <vt:lpstr>Map集合</vt:lpstr>
      <vt:lpstr>與物件導向結合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SE Developer 1z0-819</dc:title>
  <dc:creator>student</dc:creator>
  <cp:lastModifiedBy>student</cp:lastModifiedBy>
  <cp:revision>11</cp:revision>
  <dcterms:created xsi:type="dcterms:W3CDTF">2025-01-20T01:39:49Z</dcterms:created>
  <dcterms:modified xsi:type="dcterms:W3CDTF">2025-01-20T03:21:25Z</dcterms:modified>
</cp:coreProperties>
</file>