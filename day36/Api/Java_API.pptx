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viewProps" Target="view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ableStyles" Target="tableStyle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502920"/>
            <a:ext cx="11201400" cy="58521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051560"/>
            <a:ext cx="1024128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1">
                <a:solidFill>
                  <a:srgbClr val="21395C"/>
                </a:solidFill>
                <a:latin typeface="Microsoft JhengHei"/>
              </a:rPr>
              <a:t>Java 常用・必用・好用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100" b="1">
                <a:solidFill>
                  <a:srgbClr val="E7893C"/>
                </a:solidFill>
                <a:latin typeface="Microsoft JhengHei"/>
              </a:rPr>
              <a:t>完整 PowerPoint 教材｜每個 API 搭配完整範例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423160"/>
            <a:ext cx="987552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600" b="0">
                <a:solidFill>
                  <a:srgbClr val="5F6368"/>
                </a:solidFill>
                <a:latin typeface="Microsoft JhengHei"/>
              </a:rPr>
              <a:t>JDK 11｜Eclipse｜Maven｜MVC + DAO｜MySQL｜WindowBuilder｜Spring Boot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291840"/>
            <a:ext cx="8138160" cy="1051560"/>
          </a:xfrm>
          <a:prstGeom prst="roundRect">
            <a:avLst/>
          </a:prstGeom>
          <a:solidFill>
            <a:srgbClr val="F7F4EE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31720" y="3611880"/>
            <a:ext cx="74980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21395C"/>
                </a:solidFill>
                <a:latin typeface="Microsoft JhengHei"/>
              </a:rPr>
              <a:t>教學主線：API → 範例 → 專案應用 → 作業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212080"/>
            <a:ext cx="98755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>
                <a:solidFill>
                  <a:srgbClr val="5F6368"/>
                </a:solidFill>
                <a:latin typeface="Microsoft JhengHei"/>
              </a:rPr>
              <a:t>適合 Java SE、GUI、資料庫、Java Web / Spring Boot 課程使用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教材學習地圖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先掌握 Java SE 核心 API，再進入專案常用第三方 API。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110642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10287000" cy="352044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1. 基礎核心 API：String、Exception、Wrapper、Math、System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2. 集合 API：List、Set、Map、Collections、Optional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3. 日期、金額、檔案 API：java.time、BigDecimal、Files、BufferedReader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4. 資料庫與資料處理：JDBC、Stream、Function API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5. 網路與非同步：HttpClient、ExecutorService、CompletableFuture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6. Swing GUI：JFrame、JTable、DefaultTableModel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7. 企業專案 API：Jackson、Apache POI、SLF4J、Lombok、JUnit、Mockito、HikariCP</a:t>
            </a:r>
          </a:p>
          <a:p>
            <a:pPr>
              <a:spcAft>
                <a:spcPts val="400"/>
              </a:spcAft>
              <a:defRPr sz="1700">
                <a:solidFill>
                  <a:srgbClr val="21395C"/>
                </a:solidFill>
                <a:latin typeface="Microsoft JhengHei"/>
              </a:defRPr>
            </a:pPr>
            <a:r>
              <a:t>8. Spring Boot API：REST Controller、Validation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API 分層：必教、常用、專案好用、企業加分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E7893C"/>
                </a:solidFill>
                <a:latin typeface="Microsoft JhengHei"/>
              </a:rPr>
              <a:t>必教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96596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21395C"/>
                </a:solidFill>
                <a:latin typeface="Microsoft JhengHei"/>
              </a:rPr>
              <a:t>String、List、Map、LocalDateTime、Exception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8288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03320" y="205740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E7893C"/>
                </a:solidFill>
                <a:latin typeface="Microsoft JhengHei"/>
              </a:rPr>
              <a:t>常用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2743200"/>
            <a:ext cx="196596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21395C"/>
                </a:solidFill>
                <a:latin typeface="Microsoft JhengHei"/>
              </a:rPr>
              <a:t>Files、BigDecimal、Stream、Optional、JTable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E7893C"/>
                </a:solidFill>
                <a:latin typeface="Microsoft JhengHei"/>
              </a:rPr>
              <a:t>專案好用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196596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21395C"/>
                </a:solidFill>
                <a:latin typeface="Microsoft JhengHei"/>
              </a:rPr>
              <a:t>JDBC、HttpClient、ExecutorService、Properties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59" y="1828800"/>
            <a:ext cx="25146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64039" y="2057400"/>
            <a:ext cx="21488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E7893C"/>
                </a:solidFill>
                <a:latin typeface="Microsoft JhengHei"/>
              </a:rPr>
              <a:t>企業加分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2743200"/>
            <a:ext cx="1965960" cy="1737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>
                <a:solidFill>
                  <a:srgbClr val="21395C"/>
                </a:solidFill>
                <a:latin typeface="Microsoft JhengHei"/>
              </a:rPr>
              <a:t>Jackson、POI、SLF4J、JUnit、Mockito、HikariCP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1. String / StringBuilder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處理文字資料。String 適合固定文字；StringBuilder 適合大量字串組合。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String、StringBuilder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會員姓名、商品名稱、查詢關鍵字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組合 SQL 片段、報表文字、Log 訊息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String 是 immutable，不會直接改變原物件。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大量串接字串時優先用 StringBuilder。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1. String / StringBuilder：完整範例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public class StringApiDemo {</a:t>
            </a:r>
            <a:br/>
            <a:r>
              <a:t>    public static void main(String[] args) {</a:t>
            </a:r>
            <a:br/>
            <a:r>
              <a:t>        String name = "Allen";</a:t>
            </a:r>
            <a:br/>
            <a:r>
              <a:t>        String keyword = "  Java API  ";</a:t>
            </a:r>
            <a:br/>
            <a:r>
              <a:t/>
            </a:r>
            <a:br/>
            <a:r>
              <a:t>        System.out.println(name.length());</a:t>
            </a:r>
            <a:br/>
            <a:r>
              <a:t>        System.out.println(keyword.trim());</a:t>
            </a:r>
            <a:br/>
            <a:r>
              <a:t>        System.out.println(keyword.toLowerCase());</a:t>
            </a:r>
            <a:br/>
            <a:r>
              <a:t>        System.out.println(keyword.contains("Java"));</a:t>
            </a:r>
            <a:br/>
            <a:r>
              <a:t/>
            </a:r>
            <a:br/>
            <a:r>
              <a:t>        StringBuilder sb = new StringBuilder();</a:t>
            </a:r>
            <a:br/>
            <a:r>
              <a:t>        sb.append("學員：").append(name).append("\n");</a:t>
            </a:r>
            <a:br/>
            <a:r>
              <a:t>        sb.append("課程：").append(keyword.trim()).append("\n");</a:t>
            </a:r>
            <a:br/>
            <a:r>
              <a:t>        sb.append("狀態：報名成功");</a:t>
            </a:r>
            <a:br/>
            <a:r>
              <a:t/>
            </a:r>
            <a:br/>
            <a:r>
              <a:t>        System.out.println(sb.toString());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2. Wrapper / Math /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處理基本型別轉換、數學運算與系統輸出。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Integer、Double、Boolean、Math、System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表單輸入轉數字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金額、分數、折扣初步運算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Console 教學與除錯輸出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parseInt / parseDouble 常用於 GUI 或 Web 表單。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金額正式計算請改用 BigDecimal。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2. Wrapper / Math / System：完整範例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public class LangApiDemo {</a:t>
            </a:r>
            <a:br/>
            <a:r>
              <a:t>    public static void main(String[] args) {</a:t>
            </a:r>
            <a:br/>
            <a:r>
              <a:t>        String qtyText = "3";</a:t>
            </a:r>
            <a:br/>
            <a:r>
              <a:t>        String priceText = "99.5";</a:t>
            </a:r>
            <a:br/>
            <a:r>
              <a:t/>
            </a:r>
            <a:br/>
            <a:r>
              <a:t>        int qty = Integer.parseInt(qtyText);</a:t>
            </a:r>
            <a:br/>
            <a:r>
              <a:t>        double price = Double.parseDouble(priceText);</a:t>
            </a:r>
            <a:br/>
            <a:r>
              <a:t>        double total = qty * price;</a:t>
            </a:r>
            <a:br/>
            <a:r>
              <a:t/>
            </a:r>
            <a:br/>
            <a:r>
              <a:t>        System.out.println("數量 = " + qty);</a:t>
            </a:r>
            <a:br/>
            <a:r>
              <a:t>        System.out.println("總金額 = " + total);</a:t>
            </a:r>
            <a:br/>
            <a:r>
              <a:t>        System.out.println("四捨五入 = " + Math.round(total));</a:t>
            </a:r>
            <a:br/>
            <a:r>
              <a:t>        System.out.println("最大值 = " + Math.max(80, 95));</a:t>
            </a:r>
            <a:br/>
            <a:r>
              <a:t>        System.out.println("目前時間毫秒 = " + System.currentTimeMillis());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3. Exception / RuntimeException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Package：java.lang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處理錯誤流程，讓程式錯誤可控、可追蹤、可提示使用者。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Exception、RuntimeException、IllegalArgumentException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登入失敗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資料庫錯誤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輸入格式錯誤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商業規則不通過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不要只寫 e.printStackTrace() 就結束。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Service 層適合丟出自訂 RuntimeException。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Java 基礎核心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3. Exception / RuntimeException：完整範例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class MemberNotFoundException extends RuntimeException {</a:t>
            </a:r>
            <a:br/>
            <a:r>
              <a:t>    public MemberNotFoundException(String message) {</a:t>
            </a:r>
            <a:br/>
            <a:r>
              <a:t>        super(message);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ExceptionApiDemo {</a:t>
            </a:r>
            <a:br/>
            <a:r>
              <a:t>    public static void main(String[] args) {</a:t>
            </a:r>
            <a:br/>
            <a:r>
              <a:t>        try {</a:t>
            </a:r>
            <a:br/>
            <a:r>
              <a:t>            login("allen", "wrong-password");</a:t>
            </a:r>
            <a:br/>
            <a:r>
              <a:t>        } catch (MemberNotFoundException e) {</a:t>
            </a:r>
            <a:br/>
            <a:r>
              <a:t>            System.out.println("登入失敗：" + e.getMessage());</a:t>
            </a:r>
            <a:br/>
            <a:r>
              <a:t>        }</a:t>
            </a:r>
            <a:br/>
            <a:r>
              <a:t>    }</a:t>
            </a:r>
            <a:br/>
            <a:r>
              <a:t/>
            </a:r>
            <a:br/>
            <a:r>
              <a:t>    static void login(String username, String password) {</a:t>
            </a:r>
            <a:br/>
            <a:r>
              <a:t>        if (!"1234".equals(password)) {</a:t>
            </a:r>
            <a:br/>
            <a:r>
              <a:t>            throw new MemberNotFoundException("帳號或密碼錯誤");</a:t>
            </a:r>
            <a:br/>
            <a:r>
              <a:t>        }</a:t>
            </a:r>
            <a:br/>
            <a:r>
              <a:t>        System.out.println("登入成功");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4. List / ArrayList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儲存有順序、可重複的資料，是專案中最常用的集合。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List、ArrayList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查詢所有會員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訂單明細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商品列表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JTable 表格資料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宣告用 List，實作常用 ArrayList。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DAO 查詢結果幾乎都會回傳 List&lt;T&gt;。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4. List / ArrayList：完整範例（1/2）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java.util.ArrayList;</a:t>
            </a:r>
            <a:br/>
            <a:r>
              <a:t>import java.util.List;</a:t>
            </a:r>
            <a:br/>
            <a:r>
              <a:t/>
            </a:r>
            <a:br/>
            <a:r>
              <a:t>class Product {</a:t>
            </a:r>
            <a:br/>
            <a:r>
              <a:t>    String name;</a:t>
            </a:r>
            <a:br/>
            <a:r>
              <a:t>    int price;</a:t>
            </a:r>
            <a:br/>
            <a:r>
              <a:t>    Product(String name, int price) {</a:t>
            </a:r>
            <a:br/>
            <a:r>
              <a:t>        this.name = name;</a:t>
            </a:r>
            <a:br/>
            <a:r>
              <a:t>        this.price = price;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ListApiDemo {</a:t>
            </a:r>
            <a:br/>
            <a:r>
              <a:t>    public static void main(String[] args) {</a:t>
            </a:r>
            <a:br/>
            <a:r>
              <a:t>        List&lt;Product&gt; products = new ArrayList&lt;&gt;();</a:t>
            </a:r>
            <a:br/>
            <a:r>
              <a:t>        products.add(new Product("A 商品", 100));</a:t>
            </a:r>
            <a:br/>
            <a:r>
              <a:t>        products.add(new Product("B 商品", 200));</a:t>
            </a:r>
            <a:br/>
            <a:r>
              <a:t>        products.add(new Product("C 商品", 300));</a:t>
            </a:r>
            <a:br/>
            <a:r>
              <a:t/>
            </a:r>
            <a:br/>
            <a:r>
              <a:t>        for (Product p : products) {</a:t>
            </a:r>
            <a:br/>
            <a:r>
              <a:t>            System.out.println(p.name + "：" + p.price);</a:t>
            </a:r>
            <a:br/>
            <a:r>
              <a:t>  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4. List / ArrayList：完整範例（2/2）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5. Set / HashSet / TreeSet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儲存不重複資料；HashSet 重視查找效率，TreeSet 會排序。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Set、HashSet、TreeSet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去除重複標籤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不重複帳號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報表分類項目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商品類別集合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HashSet 不保證順序。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TreeSet 會依自然排序或 Comparator 排序。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5. Set / HashSet / TreeSet：完整範例（1/2）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java.util.HashSet;</a:t>
            </a:r>
            <a:br/>
            <a:r>
              <a:t>import java.util.Set;</a:t>
            </a:r>
            <a:br/>
            <a:r>
              <a:t>import java.util.TreeSet;</a:t>
            </a:r>
            <a:br/>
            <a:r>
              <a:t/>
            </a:r>
            <a:br/>
            <a:r>
              <a:t>public class SetApiDemo {</a:t>
            </a:r>
            <a:br/>
            <a:r>
              <a:t>    public static void main(String[] args) {</a:t>
            </a:r>
            <a:br/>
            <a:r>
              <a:t>        Set&lt;String&gt; tags = new HashSet&lt;&gt;();</a:t>
            </a:r>
            <a:br/>
            <a:r>
              <a:t>        tags.add("Java");</a:t>
            </a:r>
            <a:br/>
            <a:r>
              <a:t>        tags.add("MySQL");</a:t>
            </a:r>
            <a:br/>
            <a:r>
              <a:t>        tags.add("Java");</a:t>
            </a:r>
            <a:br/>
            <a:r>
              <a:t>        tags.add("Spring Boot");</a:t>
            </a:r>
            <a:br/>
            <a:r>
              <a:t/>
            </a:r>
            <a:br/>
            <a:r>
              <a:t>        System.out.println("不重複標籤：" + tags);</a:t>
            </a:r>
            <a:br/>
            <a:r>
              <a:t/>
            </a:r>
            <a:br/>
            <a:r>
              <a:t>        Set&lt;Integer&gt; scores = new TreeSet&lt;&gt;();</a:t>
            </a:r>
            <a:br/>
            <a:r>
              <a:t>        scores.add(90);</a:t>
            </a:r>
            <a:br/>
            <a:r>
              <a:t>        scores.add(70);</a:t>
            </a:r>
            <a:br/>
            <a:r>
              <a:t>        scores.add(100);</a:t>
            </a:r>
            <a:br/>
            <a:r>
              <a:t>        scores.add(90);</a:t>
            </a:r>
            <a:br/>
            <a:r>
              <a:t/>
            </a:r>
            <a:br/>
            <a:r>
              <a:t>        System.out.println("排序後分數：" + scores);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5. Set / HashSet / TreeSet：完整範例（2/2）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6. Map / HashMap / LinkedHashMap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以 Key / Value 儲存資料，適合做查表、統計、設定資料。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Map、HashMap、LinkedHashMap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商品代號對價格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帳號對會員資料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統計每類商品數量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JSON-like 暫存資料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Key 不可重複，Value 可以重複。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LinkedHashMap 可保留放入順序。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6. Map / HashMap / LinkedHashMap：完整範例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java.util.HashMap;</a:t>
            </a:r>
            <a:br/>
            <a:r>
              <a:t>import java.util.Map;</a:t>
            </a:r>
            <a:br/>
            <a:r>
              <a:t/>
            </a:r>
            <a:br/>
            <a:r>
              <a:t>public class MapApiDemo {</a:t>
            </a:r>
            <a:br/>
            <a:r>
              <a:t>    public static void main(String[] args) {</a:t>
            </a:r>
            <a:br/>
            <a:r>
              <a:t>        Map&lt;String, Integer&gt; productPrice = new HashMap&lt;&gt;();</a:t>
            </a:r>
            <a:br/>
            <a:r>
              <a:t>        productPrice.put("A", 100);</a:t>
            </a:r>
            <a:br/>
            <a:r>
              <a:t>        productPrice.put("B", 200);</a:t>
            </a:r>
            <a:br/>
            <a:r>
              <a:t>        productPrice.put("C", 300);</a:t>
            </a:r>
            <a:br/>
            <a:r>
              <a:t/>
            </a:r>
            <a:br/>
            <a:r>
              <a:t>        String code = "B";</a:t>
            </a:r>
            <a:br/>
            <a:r>
              <a:t>        if (productPrice.containsKey(code)) {</a:t>
            </a:r>
            <a:br/>
            <a:r>
              <a:t>            System.out.println(code + " 價格 = " + productPrice.get(code));</a:t>
            </a:r>
            <a:br/>
            <a:r>
              <a:t>        }</a:t>
            </a:r>
            <a:br/>
            <a:r>
              <a:t/>
            </a:r>
            <a:br/>
            <a:r>
              <a:t>        for (Map.Entry&lt;String, Integer&gt; entry : productPrice.entrySet()) {</a:t>
            </a:r>
            <a:br/>
            <a:r>
              <a:t>            System.out.println(entry.getKey() + " =&gt; " + entry.getValue());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7. Collections / Arrays / Comparator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集合與陣列的工具 API，常用於排序、搜尋、轉換。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Collections、Arrays、Comparator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商品價格排序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學生成績排序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陣列轉 List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最大值最小值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Collections 操作 Collection。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Arrays 操作 array。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Comparator 可自訂排序規則。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7. Collections / Arrays / Comparator：完整範例（1/2）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java.util.ArrayList;</a:t>
            </a:r>
            <a:br/>
            <a:r>
              <a:t>import java.util.Arrays;</a:t>
            </a:r>
            <a:br/>
            <a:r>
              <a:t>import java.util.Collections;</a:t>
            </a:r>
            <a:br/>
            <a:r>
              <a:t>import java.util.Comparator;</a:t>
            </a:r>
            <a:br/>
            <a:r>
              <a:t>import java.util.List;</a:t>
            </a:r>
            <a:br/>
            <a:r>
              <a:t/>
            </a:r>
            <a:br/>
            <a:r>
              <a:t>class Item {</a:t>
            </a:r>
            <a:br/>
            <a:r>
              <a:t>    String name;</a:t>
            </a:r>
            <a:br/>
            <a:r>
              <a:t>    int price;</a:t>
            </a:r>
            <a:br/>
            <a:r>
              <a:t>    Item(String name, int price) {</a:t>
            </a:r>
            <a:br/>
            <a:r>
              <a:t>        this.name = name;</a:t>
            </a:r>
            <a:br/>
            <a:r>
              <a:t>        this.price = price;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SortApiDemo {</a:t>
            </a:r>
            <a:br/>
            <a:r>
              <a:t>    public static void main(String[] args) {</a:t>
            </a:r>
            <a:br/>
            <a:r>
              <a:t>        List&lt;Integer&gt; scores = new ArrayList&lt;&gt;(Arrays.asList(80, 100, 60));</a:t>
            </a:r>
            <a:br/>
            <a:r>
              <a:t>        Collections.sort(scores);</a:t>
            </a:r>
            <a:br/>
            <a:r>
              <a:t>        System.out.println(scores);</a:t>
            </a:r>
            <a:br/>
            <a:r>
              <a:t/>
            </a:r>
            <a:br/>
            <a:r>
              <a:t>        List&lt;Item&gt; items = new ArrayList&lt;&gt;();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7. Collections / Arrays / Comparator：完整範例（2/2）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items.add(new Item("A", 300));</a:t>
            </a:r>
            <a:br/>
            <a:r>
              <a:t>        items.add(new Item("B", 100));</a:t>
            </a:r>
            <a:br/>
            <a:r>
              <a:t>        items.add(new Item("C", 200));</a:t>
            </a:r>
            <a:br/>
            <a:r>
              <a:t/>
            </a:r>
            <a:br/>
            <a:r>
              <a:t>        items.sort(Comparator.comparingInt(i -&gt; i.price));</a:t>
            </a:r>
            <a:br/>
            <a:r>
              <a:t>        for (Item i : items) {</a:t>
            </a:r>
            <a:br/>
            <a:r>
              <a:t>            System.out.println(i.name + "：" + i.price);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8. Optional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表達「可能有值，也可能沒有值」，降低 NullPointerException 風險。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Optional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DAO 查詢單筆資料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Service 查不到會員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預設值處理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Optional 適合當回傳值，不建議濫用在欄位。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orElse / orElseThrow 是常用處理方式。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8. Optional：完整範例（1/2）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java.util.Optional;</a:t>
            </a:r>
            <a:br/>
            <a:r>
              <a:t/>
            </a:r>
            <a:br/>
            <a:r>
              <a:t>class Member {</a:t>
            </a:r>
            <a:br/>
            <a:r>
              <a:t>    String username;</a:t>
            </a:r>
            <a:br/>
            <a:r>
              <a:t>    Member(String username) {</a:t>
            </a:r>
            <a:br/>
            <a:r>
              <a:t>        this.username = username;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OptionalApiDemo {</a:t>
            </a:r>
            <a:br/>
            <a:r>
              <a:t>    public static void main(String[] args) {</a:t>
            </a:r>
            <a:br/>
            <a:r>
              <a:t>        Optional&lt;Member&gt; result = findByUsername("allen");</a:t>
            </a:r>
            <a:br/>
            <a:r>
              <a:t/>
            </a:r>
            <a:br/>
            <a:r>
              <a:t>        Member member = result.orElseThrow(</a:t>
            </a:r>
            <a:br/>
            <a:r>
              <a:t>            () -&gt; new RuntimeException("找不到會員")</a:t>
            </a:r>
            <a:br/>
            <a:r>
              <a:t>        );</a:t>
            </a:r>
            <a:br/>
            <a:r>
              <a:t/>
            </a:r>
            <a:br/>
            <a:r>
              <a:t>        System.out.println("會員帳號：" + member.username);</a:t>
            </a:r>
            <a:br/>
            <a:r>
              <a:t>    }</a:t>
            </a:r>
            <a:br/>
            <a:r>
              <a:t/>
            </a:r>
            <a:br/>
            <a:r>
              <a:t>    static Optional&lt;Member&gt; findByUsername(String username) {</a:t>
            </a:r>
            <a:br/>
            <a:r>
              <a:t>        if ("allen".equals(username))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集合框架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8. Optional：完整範例（2/2）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    return Optional.of(new Member("allen"));</a:t>
            </a:r>
            <a:br/>
            <a:r>
              <a:t>        }</a:t>
            </a:r>
            <a:br/>
            <a:r>
              <a:t>        return Optional.empty();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日期時間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日期時間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9. LocalDate / LocalDateTime / DateTimeFormatter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處理日期、時間與格式化，是新專案優先選擇。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LocalDate、LocalDateTime、DateTimeFormatter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會員建立日期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訂單成立時間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報表查詢區間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付款時間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不要再優先使用 Date / Calendar。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DateTimeFormatter 負責日期格式化與解析。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日期時間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9. LocalDate：完整範例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java.time.LocalDate;</a:t>
            </a:r>
            <a:br/>
            <a:r>
              <a:t>import java.time.LocalDateTime;</a:t>
            </a:r>
            <a:br/>
            <a:r>
              <a:t>import java.time.format.DateTimeFormatter;</a:t>
            </a:r>
            <a:br/>
            <a:r>
              <a:t/>
            </a:r>
            <a:br/>
            <a:r>
              <a:t>public class DateTimeApiDemo {</a:t>
            </a:r>
            <a:br/>
            <a:r>
              <a:t>    public static void main(String[] args) {</a:t>
            </a:r>
            <a:br/>
            <a:r>
              <a:t>        LocalDate today = LocalDate.now();</a:t>
            </a:r>
            <a:br/>
            <a:r>
              <a:t>        LocalDateTime now = LocalDateTime.now();</a:t>
            </a:r>
            <a:br/>
            <a:r>
              <a:t/>
            </a:r>
            <a:br/>
            <a:r>
              <a:t>        DateTimeFormatter formatter =</a:t>
            </a:r>
            <a:br/>
            <a:r>
              <a:t>            DateTimeFormatter.ofPattern("yyyy-MM-dd HH:mm:ss");</a:t>
            </a:r>
            <a:br/>
            <a:r>
              <a:t/>
            </a:r>
            <a:br/>
            <a:r>
              <a:t>        String formatted = now.format(formatter);</a:t>
            </a:r>
            <a:br/>
            <a:r>
              <a:t>        LocalDate birthday = LocalDate.parse("1990-05-20");</a:t>
            </a:r>
            <a:br/>
            <a:r>
              <a:t/>
            </a:r>
            <a:br/>
            <a:r>
              <a:t>        System.out.println("今天：" + today);</a:t>
            </a:r>
            <a:br/>
            <a:r>
              <a:t>        System.out.println("現在：" + formatted);</a:t>
            </a:r>
            <a:br/>
            <a:r>
              <a:t>        System.out.println("生日：" + birthday);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日期時間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10. Duration / 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Duration 計算時間差；Period 計算日期差。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Duration、Period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租借時數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任務執行時間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會員年資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貸款期數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Duration 常用於小時、分鐘、秒。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Period 常用於年、月、日。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日期時間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10. Duration / Period：完整範例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java.time.Duration;</a:t>
            </a:r>
            <a:br/>
            <a:r>
              <a:t>import java.time.LocalDate;</a:t>
            </a:r>
            <a:br/>
            <a:r>
              <a:t>import java.time.LocalDateTime;</a:t>
            </a:r>
            <a:br/>
            <a:r>
              <a:t>import java.time.Period;</a:t>
            </a:r>
            <a:br/>
            <a:r>
              <a:t/>
            </a:r>
            <a:br/>
            <a:r>
              <a:t>public class DurationPeriodDemo {</a:t>
            </a:r>
            <a:br/>
            <a:r>
              <a:t>    public static void main(String[] args) {</a:t>
            </a:r>
            <a:br/>
            <a:r>
              <a:t>        LocalDateTime start = LocalDateTime.of(2026, 7, 1, 9, 0);</a:t>
            </a:r>
            <a:br/>
            <a:r>
              <a:t>        LocalDateTime end = LocalDateTime.of(2026, 7, 1, 12, 30);</a:t>
            </a:r>
            <a:br/>
            <a:r>
              <a:t/>
            </a:r>
            <a:br/>
            <a:r>
              <a:t>        Duration duration = Duration.between(start, end);</a:t>
            </a:r>
            <a:br/>
            <a:r>
              <a:t>        System.out.println("課程分鐘數：" + duration.toMinutes());</a:t>
            </a:r>
            <a:br/>
            <a:r>
              <a:t/>
            </a:r>
            <a:br/>
            <a:r>
              <a:t>        LocalDate joinDate = LocalDate.of(2024, 1, 10);</a:t>
            </a:r>
            <a:br/>
            <a:r>
              <a:t>        LocalDate today = LocalDate.of(2026, 7, 7);</a:t>
            </a:r>
            <a:br/>
            <a:r>
              <a:t/>
            </a:r>
            <a:br/>
            <a:r>
              <a:t>        Period period = Period.between(joinDate, today);</a:t>
            </a:r>
            <a:br/>
            <a:r>
              <a:t>        System.out.println("會員年資：" + period.getYears() + " 年 "</a:t>
            </a:r>
            <a:br/>
            <a:r>
              <a:t>            + period.getMonths() + " 月");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金額與精準計算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金額與精準計算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11. BigDecimal / RoundingMode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處理金額、利率、報表統計，避免 double 浮點誤差。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BigDecimal、RoundingMode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訂單金額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貸款利息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分期付款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發票、薪資、財務報表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BigDecimal 建議用字串建立。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除法要指定小數位與 RoundingMode。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金額與精準計算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11. BigDecimal / RoundingMode：完整範例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java.math.BigDecimal;</a:t>
            </a:r>
            <a:br/>
            <a:r>
              <a:t>import java.math.RoundingMode;</a:t>
            </a:r>
            <a:br/>
            <a:r>
              <a:t/>
            </a:r>
            <a:br/>
            <a:r>
              <a:t>public class BigDecimalApiDemo {</a:t>
            </a:r>
            <a:br/>
            <a:r>
              <a:t>    public static void main(String[] args) {</a:t>
            </a:r>
            <a:br/>
            <a:r>
              <a:t>        BigDecimal price = new BigDecimal("199.90");</a:t>
            </a:r>
            <a:br/>
            <a:r>
              <a:t>        BigDecimal qty = new BigDecimal("3");</a:t>
            </a:r>
            <a:br/>
            <a:r>
              <a:t>        BigDecimal discount = new BigDecimal("0.9");</a:t>
            </a:r>
            <a:br/>
            <a:r>
              <a:t/>
            </a:r>
            <a:br/>
            <a:r>
              <a:t>        BigDecimal subtotal = price.multiply(qty);</a:t>
            </a:r>
            <a:br/>
            <a:r>
              <a:t>        BigDecimal total = subtotal.multiply(discount)</a:t>
            </a:r>
            <a:br/>
            <a:r>
              <a:t>                .setScale(0, RoundingMode.HALF_UP);</a:t>
            </a:r>
            <a:br/>
            <a:r>
              <a:t/>
            </a:r>
            <a:br/>
            <a:r>
              <a:t>        BigDecimal avg = total.divide(new BigDecimal("3"), 2, RoundingMode.HALF_UP);</a:t>
            </a:r>
            <a:br/>
            <a:r>
              <a:t/>
            </a:r>
            <a:br/>
            <a:r>
              <a:t>        System.out.println("小計：" + subtotal);</a:t>
            </a:r>
            <a:br/>
            <a:r>
              <a:t>        System.out.println("折扣後：" + total);</a:t>
            </a:r>
            <a:br/>
            <a:r>
              <a:t>        System.out.println("平均：" + avg);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12. Path / Paths /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Package：java.nio.file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新式檔案 API，適合讀寫文字檔、CSV、設定檔。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Path、Paths、Files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CSV 匯入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報表輸出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設定檔讀取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建立資料夾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JDK 11 可使用 Files.readString / writeString。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路徑建議用 Path，不要硬串字串。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12. Path / Paths / Files：完整範例（1/2）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java.nio.file.Files;</a:t>
            </a:r>
            <a:br/>
            <a:r>
              <a:t>import java.nio.file.Path;</a:t>
            </a:r>
            <a:br/>
            <a:r>
              <a:t>import java.nio.file.Paths;</a:t>
            </a:r>
            <a:br/>
            <a:r>
              <a:t>import java.util.List;</a:t>
            </a:r>
            <a:br/>
            <a:r>
              <a:t/>
            </a:r>
            <a:br/>
            <a:r>
              <a:t>public class FilesApiDemo {</a:t>
            </a:r>
            <a:br/>
            <a:r>
              <a:t>    public static void main(String[] args) throws Exception {</a:t>
            </a:r>
            <a:br/>
            <a:r>
              <a:t>        Path dir = Paths.get("output");</a:t>
            </a:r>
            <a:br/>
            <a:r>
              <a:t>        Files.createDirectories(dir);</a:t>
            </a:r>
            <a:br/>
            <a:r>
              <a:t/>
            </a:r>
            <a:br/>
            <a:r>
              <a:t>        Path file = dir.resolve("products.csv");</a:t>
            </a:r>
            <a:br/>
            <a:r>
              <a:t>        List&lt;String&gt; lines = List.of(</a:t>
            </a:r>
            <a:br/>
            <a:r>
              <a:t>            "id,name,price",</a:t>
            </a:r>
            <a:br/>
            <a:r>
              <a:t>            "1,A 商品,100",</a:t>
            </a:r>
            <a:br/>
            <a:r>
              <a:t>            "2,B 商品,200"</a:t>
            </a:r>
            <a:br/>
            <a:r>
              <a:t>        );</a:t>
            </a:r>
            <a:br/>
            <a:r>
              <a:t/>
            </a:r>
            <a:br/>
            <a:r>
              <a:t>        Files.write(file, lines);</a:t>
            </a:r>
            <a:br/>
            <a:r>
              <a:t>        List&lt;String&gt; readLines = Files.readAllLines(file);</a:t>
            </a:r>
            <a:br/>
            <a:r>
              <a:t/>
            </a:r>
            <a:br/>
            <a:r>
              <a:t>        readLines.forEach(System.out::println);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12. Path / Paths / Files：完整範例（2/2）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13. BufferedReader / BufferedWriter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傳統但仍常見的高效率文字檔讀寫 API。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BufferedReader、BufferedWriter、FileReader、FileWriter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逐行讀取大型檔案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寫入 Log 或 CSV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教 JDBC 前的資料流概念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try-with-resources 可自動關閉檔案。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大型檔案逐行處理比一次讀入更安全。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檔案處理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13. BufferedReader / BufferedWriter：完整範例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java.io.BufferedReader;</a:t>
            </a:r>
            <a:br/>
            <a:r>
              <a:t>import java.io.BufferedWriter;</a:t>
            </a:r>
            <a:br/>
            <a:r>
              <a:t>import java.io.FileReader;</a:t>
            </a:r>
            <a:br/>
            <a:r>
              <a:t>import java.io.FileWriter;</a:t>
            </a:r>
            <a:br/>
            <a:r>
              <a:t/>
            </a:r>
            <a:br/>
            <a:r>
              <a:t>public class BufferedIoApiDemo {</a:t>
            </a:r>
            <a:br/>
            <a:r>
              <a:t>    public static void main(String[] args) throws Exception {</a:t>
            </a:r>
            <a:br/>
            <a:r>
              <a:t>        try (BufferedWriter bw = new BufferedWriter(new FileWriter("demo.txt"))) {</a:t>
            </a:r>
            <a:br/>
            <a:r>
              <a:t>            bw.write("Java\n");</a:t>
            </a:r>
            <a:br/>
            <a:r>
              <a:t>            bw.write("MySQL\n");</a:t>
            </a:r>
            <a:br/>
            <a:r>
              <a:t>            bw.write("Spring Boot\n");</a:t>
            </a:r>
            <a:br/>
            <a:r>
              <a:t>        }</a:t>
            </a:r>
            <a:br/>
            <a:r>
              <a:t/>
            </a:r>
            <a:br/>
            <a:r>
              <a:t>        try (BufferedReader br = new BufferedReader(new FileReader("demo.txt"))) {</a:t>
            </a:r>
            <a:br/>
            <a:r>
              <a:t>            String line;</a:t>
            </a:r>
            <a:br/>
            <a:r>
              <a:t>            while ((line = br.readLine()) != null) {</a:t>
            </a:r>
            <a:br/>
            <a:r>
              <a:t>                System.out.println("讀到：" + line);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設定檔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設定檔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14.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讀取 .properties 設定檔，常用於資料庫連線設定。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Properties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db.properties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系統設定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環境參數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簡易設定管理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設定檔不要寫死在 Java 程式碼中。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資料庫帳密可先放 properties，進階再改環境變數。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設定檔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14. Properties：完整範例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java.io.FileInputStream;</a:t>
            </a:r>
            <a:br/>
            <a:r>
              <a:t>import java.util.Properties;</a:t>
            </a:r>
            <a:br/>
            <a:r>
              <a:t/>
            </a:r>
            <a:br/>
            <a:r>
              <a:t>public class PropertiesApiDemo {</a:t>
            </a:r>
            <a:br/>
            <a:r>
              <a:t>    public static void main(String[] args) throws Exception {</a:t>
            </a:r>
            <a:br/>
            <a:r>
              <a:t>        Properties props = new Properties();</a:t>
            </a:r>
            <a:br/>
            <a:r>
              <a:t/>
            </a:r>
            <a:br/>
            <a:r>
              <a:t>        try (FileInputStream fis = new FileInputStream("db.properties")) {</a:t>
            </a:r>
            <a:br/>
            <a:r>
              <a:t>            props.load(fis);</a:t>
            </a:r>
            <a:br/>
            <a:r>
              <a:t>        }</a:t>
            </a:r>
            <a:br/>
            <a:r>
              <a:t/>
            </a:r>
            <a:br/>
            <a:r>
              <a:t>        String url = props.getProperty("db.url");</a:t>
            </a:r>
            <a:br/>
            <a:r>
              <a:t>        String user = props.getProperty("db.user");</a:t>
            </a:r>
            <a:br/>
            <a:r>
              <a:t>        String password = props.getProperty("db.password");</a:t>
            </a:r>
            <a:br/>
            <a:r>
              <a:t/>
            </a:r>
            <a:br/>
            <a:r>
              <a:t>        System.out.println(url);</a:t>
            </a:r>
            <a:br/>
            <a:r>
              <a:t>        System.out.println(user);</a:t>
            </a:r>
            <a:br/>
            <a:r>
              <a:t>        System.out.println(password);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資料庫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000" b="1">
                <a:solidFill>
                  <a:srgbClr val="21395C"/>
                </a:solidFill>
                <a:latin typeface="Microsoft JhengHei"/>
              </a:rPr>
              <a:t>15. JDBC：Connection / PreparedStatement / ResultSet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Java 連接關聯式資料庫的核心 API，是 DAO Pattern 的基礎。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Connection、DriverManager、PreparedStatement、ResultSet、SQLException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MySQL CRUD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會員登入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商品查詢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報表資料來源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PreparedStatement 可降低 SQL Injection 風險。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try-with-resources 必教，避免連線未關閉。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15. JDBC：完整範例（1/3）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java.sql.Connection;</a:t>
            </a:r>
            <a:br/>
            <a:r>
              <a:t>import java.sql.DriverManager;</a:t>
            </a:r>
            <a:br/>
            <a:r>
              <a:t>import java.sql.PreparedStatement;</a:t>
            </a:r>
            <a:br/>
            <a:r>
              <a:t>import java.sql.ResultSet;</a:t>
            </a:r>
            <a:br/>
            <a:r>
              <a:t>import java.util.ArrayList;</a:t>
            </a:r>
            <a:br/>
            <a:r>
              <a:t>import java.util.List;</a:t>
            </a:r>
            <a:br/>
            <a:r>
              <a:t/>
            </a:r>
            <a:br/>
            <a:r>
              <a:t>class DBUtil {</a:t>
            </a:r>
            <a:br/>
            <a:r>
              <a:t>    static Connection getConnection() throws Exception {</a:t>
            </a:r>
            <a:br/>
            <a:r>
              <a:t>        String url = "jdbc:mysql://localhost:3306/gjun?serverTimezone=Asia/Taipei";</a:t>
            </a:r>
            <a:br/>
            <a:r>
              <a:t>        String user = "root";</a:t>
            </a:r>
            <a:br/>
            <a:r>
              <a:t>        String password = "1234";</a:t>
            </a:r>
            <a:br/>
            <a:r>
              <a:t>        return DriverManager.getConnection(url, user, password);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class Member {</a:t>
            </a:r>
            <a:br/>
            <a:r>
              <a:t>    int id;</a:t>
            </a:r>
            <a:br/>
            <a:r>
              <a:t>    String name;</a:t>
            </a:r>
            <a:br/>
            <a:r>
              <a:t>    String username;</a:t>
            </a:r>
            <a:br/>
            <a:r>
              <a:t>}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15. JDBC：完整範例（2/3）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public class JdbcApiDemo {</a:t>
            </a:r>
            <a:br/>
            <a:r>
              <a:t>    public static void main(String[] args) throws Exception {</a:t>
            </a:r>
            <a:br/>
            <a:r>
              <a:t>        List&lt;Member&gt; members = findAll();</a:t>
            </a:r>
            <a:br/>
            <a:r>
              <a:t>        for (Member m : members) {</a:t>
            </a:r>
            <a:br/>
            <a:r>
              <a:t>            System.out.println(m.id + ", " + m.name + ", " + m.username);</a:t>
            </a:r>
            <a:br/>
            <a:r>
              <a:t>        }</a:t>
            </a:r>
            <a:br/>
            <a:r>
              <a:t>    }</a:t>
            </a:r>
            <a:br/>
            <a:r>
              <a:t/>
            </a:r>
            <a:br/>
            <a:r>
              <a:t>    static List&lt;Member&gt; findAll() throws Exception {</a:t>
            </a:r>
            <a:br/>
            <a:r>
              <a:t>        List&lt;Member&gt; list = new ArrayList&lt;&gt;();</a:t>
            </a:r>
            <a:br/>
            <a:r>
              <a:t>        String sql = "select id, name, username from member";</a:t>
            </a:r>
            <a:br/>
            <a:r>
              <a:t/>
            </a:r>
            <a:br/>
            <a:r>
              <a:t>        try (Connection conn = DBUtil.getConnection();</a:t>
            </a:r>
            <a:br/>
            <a:r>
              <a:t>             PreparedStatement ps = conn.prepareStatement(sql);</a:t>
            </a:r>
            <a:br/>
            <a:r>
              <a:t>             ResultSet rs = ps.executeQuery()) {</a:t>
            </a:r>
            <a:br/>
            <a:r>
              <a:t/>
            </a:r>
            <a:br/>
            <a:r>
              <a:t>            while (rs.next()) {</a:t>
            </a:r>
            <a:br/>
            <a:r>
              <a:t>                Member m = new Member();</a:t>
            </a:r>
            <a:br/>
            <a:r>
              <a:t>                m.id = rs.getInt("id");</a:t>
            </a:r>
            <a:br/>
            <a:r>
              <a:t>                m.name = rs.getString("name");</a:t>
            </a:r>
            <a:br/>
            <a:r>
              <a:t>                m.username = rs.getString("username");</a:t>
            </a:r>
            <a:br/>
            <a:r>
              <a:t>                list.add(m);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15. JDBC：完整範例（3/3）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    }</a:t>
            </a:r>
            <a:br/>
            <a:r>
              <a:t>        }</a:t>
            </a:r>
            <a:br/>
            <a:r>
              <a:t>        return list;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16. Stream / Collectors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Package：java.util.stream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對集合資料做過濾、轉換、排序、統計、分組。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Stream、Collectors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商品篩選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訂單統計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會員分組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報表資料彙總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Stream 不會修改原集合。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collect 常用來轉回 List、Map 或做 groupingBy。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16. Stream / Collectors：完整範例（1/2）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java.util.List;</a:t>
            </a:r>
            <a:br/>
            <a:r>
              <a:t>import java.util.Map;</a:t>
            </a:r>
            <a:br/>
            <a:r>
              <a:t>import java.util.stream.Collectors;</a:t>
            </a:r>
            <a:br/>
            <a:r>
              <a:t/>
            </a:r>
            <a:br/>
            <a:r>
              <a:t>class Order {</a:t>
            </a:r>
            <a:br/>
            <a:r>
              <a:t>    String category;</a:t>
            </a:r>
            <a:br/>
            <a:r>
              <a:t>    int amount;</a:t>
            </a:r>
            <a:br/>
            <a:r>
              <a:t>    Order(String category, int amount) {</a:t>
            </a:r>
            <a:br/>
            <a:r>
              <a:t>        this.category = category;</a:t>
            </a:r>
            <a:br/>
            <a:r>
              <a:t>        this.amount = amount;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StreamApiDemo {</a:t>
            </a:r>
            <a:br/>
            <a:r>
              <a:t>    public static void main(String[] args) {</a:t>
            </a:r>
            <a:br/>
            <a:r>
              <a:t>        List&lt;Order&gt; orders = List.of(</a:t>
            </a:r>
            <a:br/>
            <a:r>
              <a:t>            new Order("書籍", 500),</a:t>
            </a:r>
            <a:br/>
            <a:r>
              <a:t>            new Order("食品", 300),</a:t>
            </a:r>
            <a:br/>
            <a:r>
              <a:t>            new Order("書籍", 700)</a:t>
            </a:r>
            <a:br/>
            <a:r>
              <a:t>        );</a:t>
            </a:r>
            <a:br/>
            <a:r>
              <a:t/>
            </a:r>
            <a:br/>
            <a:r>
              <a:t>        int total = orders.stream()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16. Stream / Collectors：完整範例（2/2）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        .mapToInt(o -&gt; o.amount)</a:t>
            </a:r>
            <a:br/>
            <a:r>
              <a:t>                .sum();</a:t>
            </a:r>
            <a:br/>
            <a:r>
              <a:t/>
            </a:r>
            <a:br/>
            <a:r>
              <a:t>        List&lt;Order&gt; highOrders = orders.stream()</a:t>
            </a:r>
            <a:br/>
            <a:r>
              <a:t>                .filter(o -&gt; o.amount &gt;= 500)</a:t>
            </a:r>
            <a:br/>
            <a:r>
              <a:t>                .collect(Collectors.toList());</a:t>
            </a:r>
            <a:br/>
            <a:r>
              <a:t/>
            </a:r>
            <a:br/>
            <a:r>
              <a:t>        Map&lt;String, Integer&gt; sumByCategory = orders.stream()</a:t>
            </a:r>
            <a:br/>
            <a:r>
              <a:t>                .collect(Collectors.groupingBy(</a:t>
            </a:r>
            <a:br/>
            <a:r>
              <a:t>                    o -&gt; o.category,</a:t>
            </a:r>
            <a:br/>
            <a:r>
              <a:t>                    Collectors.summingInt(o -&gt; o.amount)</a:t>
            </a:r>
            <a:br/>
            <a:r>
              <a:t>                ));</a:t>
            </a:r>
            <a:br/>
            <a:r>
              <a:t/>
            </a:r>
            <a:br/>
            <a:r>
              <a:t>        System.out.println("總金額：" + total);</a:t>
            </a:r>
            <a:br/>
            <a:r>
              <a:t>        System.out.println("高金額筆數：" + highOrders.size());</a:t>
            </a:r>
            <a:br/>
            <a:r>
              <a:t>        System.out.println(sumByCategory);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17. Predicate / Function / Consumer / Supplier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Package：java.util.function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Lambda 與 Stream 的函式型介面，是現代 Java 寫法的核心。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Predicate、Function、Consumer、Supplier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自訂過濾條件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資料轉換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批次處理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延遲建立物件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Predicate 回傳 boolean。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Function 做 T -&gt; R 轉換。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Consumer 只接收不回傳。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Supplier 不接收但回傳。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17. Predicate：完整範例（1/2）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java.util.List;</a:t>
            </a:r>
            <a:br/>
            <a:r>
              <a:t>import java.util.function.Consumer;</a:t>
            </a:r>
            <a:br/>
            <a:r>
              <a:t>import java.util.function.Function;</a:t>
            </a:r>
            <a:br/>
            <a:r>
              <a:t>import java.util.function.Predicate;</a:t>
            </a:r>
            <a:br/>
            <a:r>
              <a:t>import java.util.function.Supplier;</a:t>
            </a:r>
            <a:br/>
            <a:r>
              <a:t/>
            </a:r>
            <a:br/>
            <a:r>
              <a:t>public class FunctionApiDemo {</a:t>
            </a:r>
            <a:br/>
            <a:r>
              <a:t>    public static void main(String[] args) {</a:t>
            </a:r>
            <a:br/>
            <a:r>
              <a:t>        List&lt;Integer&gt; scores = List.of(50, 80, 90);</a:t>
            </a:r>
            <a:br/>
            <a:r>
              <a:t/>
            </a:r>
            <a:br/>
            <a:r>
              <a:t>        Predicate&lt;Integer&gt; pass = score -&gt; score &gt;= 60;</a:t>
            </a:r>
            <a:br/>
            <a:r>
              <a:t>        Function&lt;Integer, String&gt; toLevel = score -&gt; score &gt;= 90 ? "A" : "B";</a:t>
            </a:r>
            <a:br/>
            <a:r>
              <a:t>        Consumer&lt;String&gt; printer = text -&gt; System.out.println("結果：" + text);</a:t>
            </a:r>
            <a:br/>
            <a:r>
              <a:t>        Supplier&lt;String&gt; title = () -&gt; "成績報表";</a:t>
            </a:r>
            <a:br/>
            <a:r>
              <a:t/>
            </a:r>
            <a:br/>
            <a:r>
              <a:t>        System.out.println(title.get());</a:t>
            </a:r>
            <a:br/>
            <a:r>
              <a:t/>
            </a:r>
            <a:br/>
            <a:r>
              <a:t>        for (Integer score : scores) {</a:t>
            </a:r>
            <a:br/>
            <a:r>
              <a:t>            if (pass.test(score)) {</a:t>
            </a:r>
            <a:br/>
            <a:r>
              <a:t>                printer.accept(score + " =&gt; " + toLevel.apply(score));</a:t>
            </a:r>
            <a:br/>
            <a:r>
              <a:t>            }</a:t>
            </a:r>
            <a:br/>
            <a:r>
              <a:t>  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資料處理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17. Predicate：完整範例（2/2）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網路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網路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18. HttpClient / HttpRequest / HttpResponse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Package：java.net.http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JDK 11 內建 HTTP Client，可呼叫 REST API。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HttpClient、HttpRequest、HttpResponse、URI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串接 RESTful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OpenAI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天氣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股票資料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後端測試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JDK 11 開始標準化，無需額外 Apache HttpClient。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send 是同步；sendAsync 是非同步。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網路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18. HttpClient：完整範例（1/2）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java.net.URI;</a:t>
            </a:r>
            <a:br/>
            <a:r>
              <a:t>import java.net.http.HttpClient;</a:t>
            </a:r>
            <a:br/>
            <a:r>
              <a:t>import java.net.http.HttpRequest;</a:t>
            </a:r>
            <a:br/>
            <a:r>
              <a:t>import java.net.http.HttpResponse;</a:t>
            </a:r>
            <a:br/>
            <a:r>
              <a:t/>
            </a:r>
            <a:br/>
            <a:r>
              <a:t>public class HttpClientApiDemo {</a:t>
            </a:r>
            <a:br/>
            <a:r>
              <a:t>    public static void main(String[] args) throws Exception {</a:t>
            </a:r>
            <a:br/>
            <a:r>
              <a:t>        HttpClient client = HttpClient.newHttpClient();</a:t>
            </a:r>
            <a:br/>
            <a:r>
              <a:t/>
            </a:r>
            <a:br/>
            <a:r>
              <a:t>        HttpRequest request = HttpRequest.newBuilder()</a:t>
            </a:r>
            <a:br/>
            <a:r>
              <a:t>                .uri(URI.create("https://jsonplaceholder.typicode.com/posts/1"))</a:t>
            </a:r>
            <a:br/>
            <a:r>
              <a:t>                .GET()</a:t>
            </a:r>
            <a:br/>
            <a:r>
              <a:t>                .build();</a:t>
            </a:r>
            <a:br/>
            <a:r>
              <a:t/>
            </a:r>
            <a:br/>
            <a:r>
              <a:t>        HttpResponse&lt;String&gt; response = client.send(</a:t>
            </a:r>
            <a:br/>
            <a:r>
              <a:t>                request,</a:t>
            </a:r>
            <a:br/>
            <a:r>
              <a:t>                HttpResponse.BodyHandlers.ofString()</a:t>
            </a:r>
            <a:br/>
            <a:r>
              <a:t>        );</a:t>
            </a:r>
            <a:br/>
            <a:r>
              <a:t/>
            </a:r>
            <a:br/>
            <a:r>
              <a:t>        System.out.println("狀態碼：" + response.statusCode());</a:t>
            </a:r>
            <a:br/>
            <a:r>
              <a:t>        System.out.println("內容：" + response.body());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網路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18. HttpClient：完整範例（2/2）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19. ExecutorService / Callable /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Package：java.util.concurrent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管理背景工作與執行緒池，避免手動管理 Thread。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ExecutorService、Executors、Callable、Future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背景匯出 Excel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大量資料查詢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GUI 避免卡住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批次任務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工作完成後要 shutdown。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Callable 可回傳結果，Runnable 不回傳結果。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19. ExecutorService：完整範例（1/2）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java.util.concurrent.Callable;</a:t>
            </a:r>
            <a:br/>
            <a:r>
              <a:t>import java.util.concurrent.ExecutorService;</a:t>
            </a:r>
            <a:br/>
            <a:r>
              <a:t>import java.util.concurrent.Executors;</a:t>
            </a:r>
            <a:br/>
            <a:r>
              <a:t>import java.util.concurrent.Future;</a:t>
            </a:r>
            <a:br/>
            <a:r>
              <a:t/>
            </a:r>
            <a:br/>
            <a:r>
              <a:t>public class ExecutorApiDemo {</a:t>
            </a:r>
            <a:br/>
            <a:r>
              <a:t>    public static void main(String[] args) throws Exception {</a:t>
            </a:r>
            <a:br/>
            <a:r>
              <a:t>        ExecutorService executor = Executors.newFixedThreadPool(2);</a:t>
            </a:r>
            <a:br/>
            <a:r>
              <a:t/>
            </a:r>
            <a:br/>
            <a:r>
              <a:t>        Callable&lt;Integer&gt; task = () -&gt; {</a:t>
            </a:r>
            <a:br/>
            <a:r>
              <a:t>            Thread.sleep(1000);</a:t>
            </a:r>
            <a:br/>
            <a:r>
              <a:t>            return 100 + 200;</a:t>
            </a:r>
            <a:br/>
            <a:r>
              <a:t>        };</a:t>
            </a:r>
            <a:br/>
            <a:r>
              <a:t/>
            </a:r>
            <a:br/>
            <a:r>
              <a:t>        Future&lt;Integer&gt; future = executor.submit(task);</a:t>
            </a:r>
            <a:br/>
            <a:r>
              <a:t/>
            </a:r>
            <a:br/>
            <a:r>
              <a:t>        System.out.println("背景工作執行中...");</a:t>
            </a:r>
            <a:br/>
            <a:r>
              <a:t>        Integer result = future.get();</a:t>
            </a:r>
            <a:br/>
            <a:r>
              <a:t>        System.out.println("結果：" + result);</a:t>
            </a:r>
            <a:br/>
            <a:r>
              <a:t/>
            </a:r>
            <a:br/>
            <a:r>
              <a:t>        executor.shutdown();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19. ExecutorService：完整範例（2/2）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20. CompletableFuture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Package：java.util.concurrent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現代 Java 非同步流程 API，可串接任務、轉換結果、處理完成事件。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CompletableFuture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非同步呼叫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背景查詢資料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GUI 不阻塞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多任務合併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supplyAsync 會回傳結果。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thenApply 轉換結果，thenAccept 消費結果。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非同步與多執行緒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20. CompletableFuture：完整範例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java.util.concurrent.CompletableFuture;</a:t>
            </a:r>
            <a:br/>
            <a:r>
              <a:t/>
            </a:r>
            <a:br/>
            <a:r>
              <a:t>public class CompletableFutureApiDemo {</a:t>
            </a:r>
            <a:br/>
            <a:r>
              <a:t>    public static void main(String[] args) {</a:t>
            </a:r>
            <a:br/>
            <a:r>
              <a:t>        CompletableFuture.supplyAsync(() -&gt; {</a:t>
            </a:r>
            <a:br/>
            <a:r>
              <a:t>            sleep(1000);</a:t>
            </a:r>
            <a:br/>
            <a:r>
              <a:t>            return "會員資料";</a:t>
            </a:r>
            <a:br/>
            <a:r>
              <a:t>        }).thenApply(data -&gt; {</a:t>
            </a:r>
            <a:br/>
            <a:r>
              <a:t>            return data + " + 訂單資料";</a:t>
            </a:r>
            <a:br/>
            <a:r>
              <a:t>        }).thenAccept(result -&gt; {</a:t>
            </a:r>
            <a:br/>
            <a:r>
              <a:t>            System.out.println("查詢完成：" + result);</a:t>
            </a:r>
            <a:br/>
            <a:r>
              <a:t>        }).join();</a:t>
            </a:r>
            <a:br/>
            <a:r>
              <a:t>    }</a:t>
            </a:r>
            <a:br/>
            <a:r>
              <a:t/>
            </a:r>
            <a:br/>
            <a:r>
              <a:t>    static void sleep(long ms) {</a:t>
            </a:r>
            <a:br/>
            <a:r>
              <a:t>        try {</a:t>
            </a:r>
            <a:br/>
            <a:r>
              <a:t>            Thread.sleep(ms);</a:t>
            </a:r>
            <a:br/>
            <a:r>
              <a:t>        } catch (InterruptedException e) {</a:t>
            </a:r>
            <a:br/>
            <a:r>
              <a:t>            Thread.currentThread().interrupt();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21. UUID / Base64 / SecureRandom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Package：java.util / java.security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產生唯一 ID、做基本編碼、產生安全隨機數。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UUID、Base64、SecureRandom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訂單編號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Token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驗證碼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簡易資料編碼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Base64 是編碼，不是加密。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安全用途的隨機數優先使用 SecureRandom。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21. UUID / Base64 / SecureRandom：完整範例（1/2）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java.nio.charset.StandardCharsets;</a:t>
            </a:r>
            <a:br/>
            <a:r>
              <a:t>import java.security.SecureRandom;</a:t>
            </a:r>
            <a:br/>
            <a:r>
              <a:t>import java.util.Base64;</a:t>
            </a:r>
            <a:br/>
            <a:r>
              <a:t>import java.util.UUID;</a:t>
            </a:r>
            <a:br/>
            <a:r>
              <a:t/>
            </a:r>
            <a:br/>
            <a:r>
              <a:t>public class SecurityUtilApiDemo {</a:t>
            </a:r>
            <a:br/>
            <a:r>
              <a:t>    public static void main(String[] args) {</a:t>
            </a:r>
            <a:br/>
            <a:r>
              <a:t>        String orderNo = UUID.randomUUID().toString();</a:t>
            </a:r>
            <a:br/>
            <a:r>
              <a:t>        System.out.println("訂單編號：" + orderNo);</a:t>
            </a:r>
            <a:br/>
            <a:r>
              <a:t/>
            </a:r>
            <a:br/>
            <a:r>
              <a:t>        String raw = "allen:1234";</a:t>
            </a:r>
            <a:br/>
            <a:r>
              <a:t>        String encoded = Base64.getEncoder()</a:t>
            </a:r>
            <a:br/>
            <a:r>
              <a:t>                .encodeToString(raw.getBytes(StandardCharsets.UTF_8));</a:t>
            </a:r>
            <a:br/>
            <a:r>
              <a:t>        String decoded = new String(Base64.getDecoder().decode(encoded),</a:t>
            </a:r>
            <a:br/>
            <a:r>
              <a:t>            StandardCharsets.UTF_8);</a:t>
            </a:r>
            <a:br/>
            <a:r>
              <a:t/>
            </a:r>
            <a:br/>
            <a:r>
              <a:t>        SecureRandom random = new SecureRandom();</a:t>
            </a:r>
            <a:br/>
            <a:r>
              <a:t>        int code = 100000 + random.nextInt(900000);</a:t>
            </a:r>
            <a:br/>
            <a:r>
              <a:t/>
            </a:r>
            <a:br/>
            <a:r>
              <a:t>        System.out.println("Base64：" + encoded);</a:t>
            </a:r>
            <a:br/>
            <a:r>
              <a:t>        System.out.println("還原：" + decoded);</a:t>
            </a:r>
            <a:br/>
            <a:r>
              <a:t>        System.out.println("驗證碼：" + code);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21. UUID / Base64 / SecureRandom：完整範例（2/2）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22. MessageDigest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Package：java.security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產生雜湊值，例如 SHA-256，適合做完整性檢查。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MessageDigest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檔案校驗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資料雜湊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密碼教學概念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Token 簽章概念前導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正式密碼儲存不應只用 SHA-256，應使用 bcrypt / Argon2 等。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這裡作為 Java API 教學示範。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安全與工具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22. MessageDigest：完整範例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java.nio.charset.StandardCharsets;</a:t>
            </a:r>
            <a:br/>
            <a:r>
              <a:t>import java.security.MessageDigest;</a:t>
            </a:r>
            <a:br/>
            <a:r>
              <a:t/>
            </a:r>
            <a:br/>
            <a:r>
              <a:t>public class MessageDigestApiDemo {</a:t>
            </a:r>
            <a:br/>
            <a:r>
              <a:t>    public static void main(String[] args) throws Exception {</a:t>
            </a:r>
            <a:br/>
            <a:r>
              <a:t>        String text = "hello-java";</a:t>
            </a:r>
            <a:br/>
            <a:r>
              <a:t>        MessageDigest md = MessageDigest.getInstance("SHA-256");</a:t>
            </a:r>
            <a:br/>
            <a:r>
              <a:t>        byte[] hash = md.digest(text.getBytes(StandardCharsets.UTF_8));</a:t>
            </a:r>
            <a:br/>
            <a:r>
              <a:t/>
            </a:r>
            <a:br/>
            <a:r>
              <a:t>        StringBuilder hex = new StringBuilder();</a:t>
            </a:r>
            <a:br/>
            <a:r>
              <a:t>        for (byte b : hash) {</a:t>
            </a:r>
            <a:br/>
            <a:r>
              <a:t>            hex.append(String.format("%02x", b));</a:t>
            </a:r>
            <a:br/>
            <a:r>
              <a:t>        }</a:t>
            </a:r>
            <a:br/>
            <a:r>
              <a:t/>
            </a:r>
            <a:br/>
            <a:r>
              <a:t>        System.out.println("SHA-256：" + hex);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Swing GUI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23. JFrame / JButton / JTextField / JOptionPane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Package：javax.swing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Java SE 視窗程式基本元件，適合 WindowBuilder 課程。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JFrame、JPanel、JButton、JTextField、JPasswordField、JOptionPane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登入畫面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會員管理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商品輸入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查詢表單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WindowBuilder 是視覺化工具，底層仍是 Swing API。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事件處理常用 addActionListener。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23. JFrame：完整範例（1/3）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javax.swing.JButton;</a:t>
            </a:r>
            <a:br/>
            <a:r>
              <a:t>import javax.swing.JFrame;</a:t>
            </a:r>
            <a:br/>
            <a:r>
              <a:t>import javax.swing.JLabel;</a:t>
            </a:r>
            <a:br/>
            <a:r>
              <a:t>import javax.swing.JOptionPane;</a:t>
            </a:r>
            <a:br/>
            <a:r>
              <a:t>import javax.swing.JPasswordField;</a:t>
            </a:r>
            <a:br/>
            <a:r>
              <a:t>import javax.swing.JTextField;</a:t>
            </a:r>
            <a:br/>
            <a:r>
              <a:t/>
            </a:r>
            <a:br/>
            <a:r>
              <a:t>public class SwingLoginDemo extends JFrame {</a:t>
            </a:r>
            <a:br/>
            <a:r>
              <a:t>    private JTextField txtUsername = new JTextField();</a:t>
            </a:r>
            <a:br/>
            <a:r>
              <a:t>    private JPasswordField txtPassword = new JPasswordField();</a:t>
            </a:r>
            <a:br/>
            <a:r>
              <a:t>    private JButton btnLogin = new JButton("登入");</a:t>
            </a:r>
            <a:br/>
            <a:r>
              <a:t/>
            </a:r>
            <a:br/>
            <a:r>
              <a:t>    public SwingLoginDemo() {</a:t>
            </a:r>
            <a:br/>
            <a:r>
              <a:t>        setTitle("會員登入");</a:t>
            </a:r>
            <a:br/>
            <a:r>
              <a:t>        setSize(360, 220);</a:t>
            </a:r>
            <a:br/>
            <a:r>
              <a:t>        setLayout(null);</a:t>
            </a:r>
            <a:br/>
            <a:r>
              <a:t>        setDefaultCloseOperation(JFrame.EXIT_ON_CLOSE);</a:t>
            </a:r>
            <a:br/>
            <a:r>
              <a:t/>
            </a:r>
            <a:br/>
            <a:r>
              <a:t>        JLabel lblUser = new JLabel("帳號");</a:t>
            </a:r>
            <a:br/>
            <a:r>
              <a:t>        lblUser.setBounds(40, 30, 80, 25);</a:t>
            </a:r>
            <a:br/>
            <a:r>
              <a:t>        txtUsername.setBounds(120, 30, 160, 25);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23. JFrame：完整範例（2/3）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        JLabel lblPass = new JLabel("密碼");</a:t>
            </a:r>
            <a:br/>
            <a:r>
              <a:t>        lblPass.setBounds(40, 70, 80, 25);</a:t>
            </a:r>
            <a:br/>
            <a:r>
              <a:t>        txtPassword.setBounds(120, 70, 160, 25);</a:t>
            </a:r>
            <a:br/>
            <a:r>
              <a:t/>
            </a:r>
            <a:br/>
            <a:r>
              <a:t>        btnLogin.setBounds(120, 115, 100, 30);</a:t>
            </a:r>
            <a:br/>
            <a:r>
              <a:t>        btnLogin.addActionListener(e -&gt; login());</a:t>
            </a:r>
            <a:br/>
            <a:r>
              <a:t/>
            </a:r>
            <a:br/>
            <a:r>
              <a:t>        add(lblUser);</a:t>
            </a:r>
            <a:br/>
            <a:r>
              <a:t>        add(txtUsername);</a:t>
            </a:r>
            <a:br/>
            <a:r>
              <a:t>        add(lblPass);</a:t>
            </a:r>
            <a:br/>
            <a:r>
              <a:t>        add(txtPassword);</a:t>
            </a:r>
            <a:br/>
            <a:r>
              <a:t>        add(btnLogin);</a:t>
            </a:r>
            <a:br/>
            <a:r>
              <a:t>    }</a:t>
            </a:r>
            <a:br/>
            <a:r>
              <a:t/>
            </a:r>
            <a:br/>
            <a:r>
              <a:t>    private void login() {</a:t>
            </a:r>
            <a:br/>
            <a:r>
              <a:t>        String username = txtUsername.getText();</a:t>
            </a:r>
            <a:br/>
            <a:r>
              <a:t>        String password = new String(txtPassword.getPassword());</a:t>
            </a:r>
            <a:br/>
            <a:r>
              <a:t>        if ("admin".equals(username) &amp;&amp; "1234".equals(password)) {</a:t>
            </a:r>
            <a:br/>
            <a:r>
              <a:t>            JOptionPane.showMessageDialog(this, "登入成功");</a:t>
            </a:r>
            <a:br/>
            <a:r>
              <a:t>        } else {</a:t>
            </a:r>
            <a:br/>
            <a:r>
              <a:t>            JOptionPane.showMessageDialog(this, "登入失敗");</a:t>
            </a:r>
            <a:br/>
            <a:r>
              <a:t>  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23. JFrame：完整範例（3/3）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}</a:t>
            </a:r>
            <a:br/>
            <a:r>
              <a:t/>
            </a:r>
            <a:br/>
            <a:r>
              <a:t>    public static void main(String[] args) {</a:t>
            </a:r>
            <a:br/>
            <a:r>
              <a:t>        new SwingLoginDemo().setVisible(true);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24. JTable / DefaultTableModel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Package：javax.swing / javax.swing.table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表格顯示資料，是會員管理、商品管理、訂單管理最常用 GUI 元件。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JTable、DefaultTableModel、JScrollPane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查詢結果列表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商品清單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訂單明細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報表預覽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JTable 顯示畫面，DefaultTableModel 管理資料。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從 DAO 查到 List&lt;T&gt; 後，轉成 table model。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24. JTable / DefaultTableModel：完整範例（1/3）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javax.swing.JFrame;</a:t>
            </a:r>
            <a:br/>
            <a:r>
              <a:t>import javax.swing.JScrollPane;</a:t>
            </a:r>
            <a:br/>
            <a:r>
              <a:t>import javax.swing.JTable;</a:t>
            </a:r>
            <a:br/>
            <a:r>
              <a:t>import javax.swing.table.DefaultTableModel;</a:t>
            </a:r>
            <a:br/>
            <a:r>
              <a:t>import java.util.List;</a:t>
            </a:r>
            <a:br/>
            <a:r>
              <a:t/>
            </a:r>
            <a:br/>
            <a:r>
              <a:t>class MemberRow {</a:t>
            </a:r>
            <a:br/>
            <a:r>
              <a:t>    int id;</a:t>
            </a:r>
            <a:br/>
            <a:r>
              <a:t>    String name;</a:t>
            </a:r>
            <a:br/>
            <a:r>
              <a:t>    String phone;</a:t>
            </a:r>
            <a:br/>
            <a:r>
              <a:t>    MemberRow(int id, String name, String phone) {</a:t>
            </a:r>
            <a:br/>
            <a:r>
              <a:t>        this.id = id;</a:t>
            </a:r>
            <a:br/>
            <a:r>
              <a:t>        this.name = name;</a:t>
            </a:r>
            <a:br/>
            <a:r>
              <a:t>        this.phone = phone;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JTableApiDemo extends JFrame {</a:t>
            </a:r>
            <a:br/>
            <a:r>
              <a:t>    private JTable table = new JTable();</a:t>
            </a:r>
            <a:br/>
            <a:r>
              <a:t>    private DefaultTableModel model = new DefaultTableModel();</a:t>
            </a:r>
            <a:br/>
            <a:r>
              <a:t/>
            </a:r>
            <a:br/>
            <a:r>
              <a:t>    public JTableApiDemo()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24. JTable / DefaultTableModel：完整範例（2/3）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        setTitle("會員列表");</a:t>
            </a:r>
            <a:br/>
            <a:r>
              <a:t>        setSize(500, 300);</a:t>
            </a:r>
            <a:br/>
            <a:r>
              <a:t>        setDefaultCloseOperation(JFrame.EXIT_ON_CLOSE);</a:t>
            </a:r>
            <a:br/>
            <a:r>
              <a:t/>
            </a:r>
            <a:br/>
            <a:r>
              <a:t>        model.addColumn("編號");</a:t>
            </a:r>
            <a:br/>
            <a:r>
              <a:t>        model.addColumn("姓名");</a:t>
            </a:r>
            <a:br/>
            <a:r>
              <a:t>        model.addColumn("電話");</a:t>
            </a:r>
            <a:br/>
            <a:r>
              <a:t>        table.setModel(model);</a:t>
            </a:r>
            <a:br/>
            <a:r>
              <a:t/>
            </a:r>
            <a:br/>
            <a:r>
              <a:t>        add(new JScrollPane(table));</a:t>
            </a:r>
            <a:br/>
            <a:r>
              <a:t>        loadData();</a:t>
            </a:r>
            <a:br/>
            <a:r>
              <a:t>    }</a:t>
            </a:r>
            <a:br/>
            <a:r>
              <a:t/>
            </a:r>
            <a:br/>
            <a:r>
              <a:t>    private void loadData() {</a:t>
            </a:r>
            <a:br/>
            <a:r>
              <a:t>        List&lt;MemberRow&gt; members = List.of(</a:t>
            </a:r>
            <a:br/>
            <a:r>
              <a:t>            new MemberRow(1, "Allen", "0912-111-111"),</a:t>
            </a:r>
            <a:br/>
            <a:r>
              <a:t>            new MemberRow(2, "Mary", "0922-222-222")</a:t>
            </a:r>
            <a:br/>
            <a:r>
              <a:t>        );</a:t>
            </a:r>
            <a:br/>
            <a:r>
              <a:t/>
            </a:r>
            <a:br/>
            <a:r>
              <a:t>        model.setRowCount(0);</a:t>
            </a:r>
            <a:br/>
            <a:r>
              <a:t>        for (MemberRow m : members) {</a:t>
            </a:r>
            <a:br/>
            <a:r>
              <a:t>            model.addRow(new Object[] { m.id, m.name, m.phone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Swing GUI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24. JTable / DefaultTableModel：完整範例（3/3）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}</a:t>
            </a:r>
            <a:br/>
            <a:r>
              <a:t>    }</a:t>
            </a:r>
            <a:br/>
            <a:r>
              <a:t/>
            </a:r>
            <a:br/>
            <a:r>
              <a:t>    public static void main(String[] args) {</a:t>
            </a:r>
            <a:br/>
            <a:r>
              <a:t>        new JTableApiDemo().setVisible(true);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JSON 第三方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JSON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25. Jackson ObjectMapper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Package：com.fasterxml.jackson.databind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Java 物件與 JSON 互轉，是 REST API 專案常用工具。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ObjectMapper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JSON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呼叫外部 API 回傳資料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設定檔 JSON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前後端資料交換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預設常用 Jackson。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純 Java 專案需加入 Maven dependency。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JSON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25. Jackson ObjectMapper：完整範例（1/2）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com.fasterxml.jackson.databind.ObjectMapper;</a:t>
            </a:r>
            <a:br/>
            <a:r>
              <a:t/>
            </a:r>
            <a:br/>
            <a:r>
              <a:t>class UserDto {</a:t>
            </a:r>
            <a:br/>
            <a:r>
              <a:t>    public int id;</a:t>
            </a:r>
            <a:br/>
            <a:r>
              <a:t>    public String name;</a:t>
            </a:r>
            <a:br/>
            <a:r>
              <a:t/>
            </a:r>
            <a:br/>
            <a:r>
              <a:t>    public UserDto() {}</a:t>
            </a:r>
            <a:br/>
            <a:r>
              <a:t/>
            </a:r>
            <a:br/>
            <a:r>
              <a:t>    public UserDto(int id, String name) {</a:t>
            </a:r>
            <a:br/>
            <a:r>
              <a:t>        this.id = id;</a:t>
            </a:r>
            <a:br/>
            <a:r>
              <a:t>        this.name = name;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JacksonApiDemo {</a:t>
            </a:r>
            <a:br/>
            <a:r>
              <a:t>    public static void main(String[] args) throws Exception {</a:t>
            </a:r>
            <a:br/>
            <a:r>
              <a:t>        ObjectMapper mapper = new ObjectMapper();</a:t>
            </a:r>
            <a:br/>
            <a:r>
              <a:t/>
            </a:r>
            <a:br/>
            <a:r>
              <a:t>        UserDto user = new UserDto(1, "Allen");</a:t>
            </a:r>
            <a:br/>
            <a:r>
              <a:t>        String json = mapper.writeValueAsString(user);</a:t>
            </a:r>
            <a:br/>
            <a:r>
              <a:t>        System.out.println("轉 JSON：" + json);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JSON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25. Jackson ObjectMapper：完整範例（2/2）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UserDto result = mapper.readValue(json, UserDto.class);</a:t>
            </a:r>
            <a:br/>
            <a:r>
              <a:t>        System.out.println("轉物件：" + result.id + ", " + result.name);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Excel 第三方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Excel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26. Apache POI Workbook / Sheet / Row /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Package：org.apache.poi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讀寫 Excel 檔案，是 Java 報表匯出常用 API。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Workbook、XSSFWorkbook、Sheet、Row、Cell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會員清單匯出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訂單報表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貸款分期表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課程作業輸出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XSSFWorkbook 用於 .xlsx。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大量資料可再進階使用 SXSSFWorkbook。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Excel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26. Apache POI Workbook：完整範例（1/2）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org.apache.poi.ss.usermodel.Row;</a:t>
            </a:r>
            <a:br/>
            <a:r>
              <a:t>import org.apache.poi.ss.usermodel.Sheet;</a:t>
            </a:r>
            <a:br/>
            <a:r>
              <a:t>import org.apache.poi.ss.usermodel.Workbook;</a:t>
            </a:r>
            <a:br/>
            <a:r>
              <a:t>import org.apache.poi.xssf.usermodel.XSSFWorkbook;</a:t>
            </a:r>
            <a:br/>
            <a:r>
              <a:t/>
            </a:r>
            <a:br/>
            <a:r>
              <a:t>import java.io.FileOutputStream;</a:t>
            </a:r>
            <a:br/>
            <a:r>
              <a:t/>
            </a:r>
            <a:br/>
            <a:r>
              <a:t>public class PoiExcelApiDemo {</a:t>
            </a:r>
            <a:br/>
            <a:r>
              <a:t>    public static void main(String[] args) throws Exception {</a:t>
            </a:r>
            <a:br/>
            <a:r>
              <a:t>        try (Workbook workbook = new XSSFWorkbook()) {</a:t>
            </a:r>
            <a:br/>
            <a:r>
              <a:t>            Sheet sheet = workbook.createSheet("會員資料");</a:t>
            </a:r>
            <a:br/>
            <a:r>
              <a:t/>
            </a:r>
            <a:br/>
            <a:r>
              <a:t>            Row header = sheet.createRow(0);</a:t>
            </a:r>
            <a:br/>
            <a:r>
              <a:t>            header.createCell(0).setCellValue("編號");</a:t>
            </a:r>
            <a:br/>
            <a:r>
              <a:t>            header.createCell(1).setCellValue("姓名");</a:t>
            </a:r>
            <a:br/>
            <a:r>
              <a:t>            header.createCell(2).setCellValue("電話");</a:t>
            </a:r>
            <a:br/>
            <a:r>
              <a:t/>
            </a:r>
            <a:br/>
            <a:r>
              <a:t>            Row row = sheet.createRow(1);</a:t>
            </a:r>
            <a:br/>
            <a:r>
              <a:t>            row.createCell(0).setCellValue(1);</a:t>
            </a:r>
            <a:br/>
            <a:r>
              <a:t>            row.createCell(1).setCellValue("Allen");</a:t>
            </a:r>
            <a:br/>
            <a:r>
              <a:t>            row.createCell(2).setCellValue("0912-111-111");</a:t>
            </a:r>
            <a:br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Excel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26. Apache POI Workbook：完整範例（2/2）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    for (int i = 0; i &lt; 3; i++) {</a:t>
            </a:r>
            <a:br/>
            <a:r>
              <a:t>                sheet.autoSizeColumn(i);</a:t>
            </a:r>
            <a:br/>
            <a:r>
              <a:t>            }</a:t>
            </a:r>
            <a:br/>
            <a:r>
              <a:t/>
            </a:r>
            <a:br/>
            <a:r>
              <a:t>            try (FileOutputStream fos = new FileOutputStream("members.xlsx")) {</a:t>
            </a:r>
            <a:br/>
            <a:r>
              <a:t>                workbook.write(fos);</a:t>
            </a:r>
            <a:br/>
            <a:r>
              <a:t>            }</a:t>
            </a:r>
            <a:br/>
            <a:r>
              <a:t>        }</a:t>
            </a:r>
            <a:br/>
            <a:r>
              <a:t>        System.out.println("Excel 匯出完成");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Logging 第三方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Logging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27. SLF4J Logger / LoggerFactory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Package：org.slf4j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標準化 Log 輸出，取代 System.out.println 做正式除錯與追蹤。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Logger、LoggerFactory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DAO SQL 錯誤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Service 商業邏輯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Controller 請求追蹤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例外紀錄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教學可以先 println，專案要改 logger。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SLF4J 是 facade，常搭配 Logback。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Logging 第三方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27. SLF4J Logger / LoggerFactory：完整範例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import org.slf4j.Logger;</a:t>
            </a:r>
            <a:br/>
            <a:r>
              <a:t>import org.slf4j.LoggerFactory;</a:t>
            </a:r>
            <a:br/>
            <a:r>
              <a:t/>
            </a:r>
            <a:br/>
            <a:r>
              <a:t>public class Slf4jApiDemo {</a:t>
            </a:r>
            <a:br/>
            <a:r>
              <a:t>    private static final Logger log = LoggerFactory.getLogger(Slf4jApiDemo.class);</a:t>
            </a:r>
            <a:br/>
            <a:r>
              <a:t/>
            </a:r>
            <a:br/>
            <a:r>
              <a:t>    public static void main(String[] args) {</a:t>
            </a:r>
            <a:br/>
            <a:r>
              <a:t>        String username = "allen";</a:t>
            </a:r>
            <a:br/>
            <a:r>
              <a:t>        log.info("使用者登入：{}", username);</a:t>
            </a:r>
            <a:br/>
            <a:r>
              <a:t/>
            </a:r>
            <a:br/>
            <a:r>
              <a:t>        try {</a:t>
            </a:r>
            <a:br/>
            <a:r>
              <a:t>            int result = 10 / 0;</a:t>
            </a:r>
            <a:br/>
            <a:r>
              <a:t>            log.info("result={}", result);</a:t>
            </a:r>
            <a:br/>
            <a:r>
              <a:t>        } catch (Exception e) {</a:t>
            </a:r>
            <a:br/>
            <a:r>
              <a:t>            log.error("系統發生錯誤", e);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樣板程式簡化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樣板程式簡化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28. Lombok @Data / @Builder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Package：lombok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自動產生 getter、setter、toString、builder，減少樣板程式。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@Data、@Builder、@NoArgsConstructor、@AllArgsConstructor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Model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DTO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Entity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查詢條件物件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Eclipse 需要安裝 Lombok 支援。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正式教學要讓學生知道 Lombok 只是產生程式碼，不是魔法。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樣板程式簡化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28. Lombok @Data / @Builder：完整範例（1/2）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lombok.AllArgsConstructor;</a:t>
            </a:r>
            <a:br/>
            <a:r>
              <a:t>import lombok.Builder;</a:t>
            </a:r>
            <a:br/>
            <a:r>
              <a:t>import lombok.Data;</a:t>
            </a:r>
            <a:br/>
            <a:r>
              <a:t>import lombok.NoArgsConstructor;</a:t>
            </a:r>
            <a:br/>
            <a:r>
              <a:t/>
            </a:r>
            <a:br/>
            <a:r>
              <a:t>@Data</a:t>
            </a:r>
            <a:br/>
            <a:r>
              <a:t>@Builder</a:t>
            </a:r>
            <a:br/>
            <a:r>
              <a:t>@NoArgsConstructor</a:t>
            </a:r>
            <a:br/>
            <a:r>
              <a:t>@AllArgsConstructor</a:t>
            </a:r>
            <a:br/>
            <a:r>
              <a:t>class ProductDto {</a:t>
            </a:r>
            <a:br/>
            <a:r>
              <a:t>    private Integer id;</a:t>
            </a:r>
            <a:br/>
            <a:r>
              <a:t>    private String name;</a:t>
            </a:r>
            <a:br/>
            <a:r>
              <a:t>    private Integer price;</a:t>
            </a:r>
            <a:br/>
            <a:r>
              <a:t>}</a:t>
            </a:r>
            <a:br/>
            <a:r>
              <a:t/>
            </a:r>
            <a:br/>
            <a:r>
              <a:t>public class LombokApiDemo {</a:t>
            </a:r>
            <a:br/>
            <a:r>
              <a:t>    public static void main(String[] args) {</a:t>
            </a:r>
            <a:br/>
            <a:r>
              <a:t>        ProductDto product = ProductDto.builder()</a:t>
            </a:r>
            <a:br/>
            <a:r>
              <a:t>                .id(1)</a:t>
            </a:r>
            <a:br/>
            <a:r>
              <a:t>                .name("A 商品")</a:t>
            </a:r>
            <a:br/>
            <a:r>
              <a:t>                .price(100)</a:t>
            </a:r>
            <a:br/>
            <a:r>
              <a:t>                .build();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樣板程式簡化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28. Lombok @Data / @Builder：完整範例（2/2）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t/>
            </a:r>
            <a:br/>
            <a:r>
              <a:t>        System.out.println(product.getName());</a:t>
            </a:r>
            <a:br/>
            <a:r>
              <a:t>        System.out.println(product);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測試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29. JUnit @Test / Assertions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Package：org.junit.jupiter.api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撰寫單元測試，驗證方法是否正確。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@Test、Assertions、assertEquals、assertThrows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Service 計算邏輯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DAO 測試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工具類測試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回歸測試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先測 Service / Util 最容易上手。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測試不是額外工作，是保護專案的安全網。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29. JUnit @Test / Assertions：完整範例（1/2）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org.junit.jupiter.api.Test;</a:t>
            </a:r>
            <a:br/>
            <a:r>
              <a:t>import java.math.BigDecimal;</a:t>
            </a:r>
            <a:br/>
            <a:r>
              <a:t>import static org.junit.jupiter.api.Assertions.assertEquals;</a:t>
            </a:r>
            <a:br/>
            <a:r>
              <a:t>import static org.junit.jupiter.api.Assertions.assertThrows;</a:t>
            </a:r>
            <a:br/>
            <a:r>
              <a:t/>
            </a:r>
            <a:br/>
            <a:r>
              <a:t>class PriceService {</a:t>
            </a:r>
            <a:br/>
            <a:r>
              <a:t>    BigDecimal subtotal(BigDecimal price, int qty) {</a:t>
            </a:r>
            <a:br/>
            <a:r>
              <a:t>        if (qty &lt;= 0) {</a:t>
            </a:r>
            <a:br/>
            <a:r>
              <a:t>            throw new IllegalArgumentException("數量必須大於 0");</a:t>
            </a:r>
            <a:br/>
            <a:r>
              <a:t>        }</a:t>
            </a:r>
            <a:br/>
            <a:r>
              <a:t>        return price.multiply(BigDecimal.valueOf(qty));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JUnitApiDemo {</a:t>
            </a:r>
            <a:br/>
            <a:r>
              <a:t>    private PriceService service = new PriceService();</a:t>
            </a:r>
            <a:br/>
            <a:r>
              <a:t/>
            </a:r>
            <a:br/>
            <a:r>
              <a:t>    @Test</a:t>
            </a:r>
            <a:br/>
            <a:r>
              <a:t>    void testSubtotal() {</a:t>
            </a:r>
            <a:br/>
            <a:r>
              <a:t>        BigDecimal result = service.subtotal(new BigDecimal("100"), 3);</a:t>
            </a:r>
            <a:br/>
            <a:r>
              <a:t>        assertEquals(new BigDecimal("300"), result);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29. JUnit @Test / Assertions：完整範例（2/2）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t/>
            </a:r>
            <a:br/>
            <a:r>
              <a:t>    @Test</a:t>
            </a:r>
            <a:br/>
            <a:r>
              <a:t>    void testInvalidQty() {</a:t>
            </a:r>
            <a:br/>
            <a:r>
              <a:t>        assertThrows(IllegalArgumentException.class, () -&gt; {</a:t>
            </a:r>
            <a:br/>
            <a:r>
              <a:t>            service.subtotal(new BigDecimal("100"), 0);</a:t>
            </a:r>
            <a:br/>
            <a:r>
              <a:t>        });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30. Mockito mock / when /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Package：org.mockito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模擬 DAO 或外部依賴，讓 Service 測試更乾淨。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Mockito、mock、when、verify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Service 測試不想真的連資料庫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模擬外部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測試 Controller 依賴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mock DAO，測 Service。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verify 可檢查方法是否被呼叫。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30. Mockito mock / when / verify：完整範例（1/2）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org.junit.jupiter.api.Test;</a:t>
            </a:r>
            <a:br/>
            <a:r>
              <a:t>import static org.junit.jupiter.api.Assertions.assertEquals;</a:t>
            </a:r>
            <a:br/>
            <a:r>
              <a:t>import static org.mockito.Mockito.mock;</a:t>
            </a:r>
            <a:br/>
            <a:r>
              <a:t>import static org.mockito.Mockito.verify;</a:t>
            </a:r>
            <a:br/>
            <a:r>
              <a:t>import static org.mockito.Mockito.when;</a:t>
            </a:r>
            <a:br/>
            <a:r>
              <a:t/>
            </a:r>
            <a:br/>
            <a:r>
              <a:t>interface MemberDao {</a:t>
            </a:r>
            <a:br/>
            <a:r>
              <a:t>    String findNameById(int id);</a:t>
            </a:r>
            <a:br/>
            <a:r>
              <a:t>}</a:t>
            </a:r>
            <a:br/>
            <a:r>
              <a:t/>
            </a:r>
            <a:br/>
            <a:r>
              <a:t>class MemberService {</a:t>
            </a:r>
            <a:br/>
            <a:r>
              <a:t>    private MemberDao dao;</a:t>
            </a:r>
            <a:br/>
            <a:r>
              <a:t>    MemberService(MemberDao dao) {</a:t>
            </a:r>
            <a:br/>
            <a:r>
              <a:t>        this.dao = dao;</a:t>
            </a:r>
            <a:br/>
            <a:r>
              <a:t>    }</a:t>
            </a:r>
            <a:br/>
            <a:r>
              <a:t>    String getDisplayName(int id) {</a:t>
            </a:r>
            <a:br/>
            <a:r>
              <a:t>        return "會員：" + dao.findNameById(id);</a:t>
            </a:r>
            <a:br/>
            <a:r>
              <a:t>    }</a:t>
            </a:r>
            <a:br/>
            <a:r>
              <a:t>}</a:t>
            </a:r>
            <a:br/>
            <a:r>
              <a:t/>
            </a:r>
            <a:br/>
            <a:r>
              <a:t>public class MockitoApiDemo {</a:t>
            </a:r>
            <a:br/>
            <a:r>
              <a:t>    @Test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測試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30. Mockito mock / when / verify：完整範例（2/2）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void testGetDisplayName() {</a:t>
            </a:r>
            <a:br/>
            <a:r>
              <a:t>        MemberDao dao = mock(MemberDao.class);</a:t>
            </a:r>
            <a:br/>
            <a:r>
              <a:t>        when(dao.findNameById(1)).thenReturn("Allen");</a:t>
            </a:r>
            <a:br/>
            <a:r>
              <a:t/>
            </a:r>
            <a:br/>
            <a:r>
              <a:t>        MemberService service = new MemberService(dao);</a:t>
            </a:r>
            <a:br/>
            <a:r>
              <a:t>        String result = service.getDisplayName(1);</a:t>
            </a:r>
            <a:br/>
            <a:r>
              <a:t/>
            </a:r>
            <a:br/>
            <a:r>
              <a:t>        assertEquals("會員：Allen", result);</a:t>
            </a:r>
            <a:br/>
            <a:r>
              <a:t>        verify(dao).findNameById(1);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資料庫連線池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資料庫連線池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31. HikariCP HikariDataSource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Package：com.zaxxer.hikari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高效能資料庫連線池，正式專案比 DriverManager 更適合。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HikariConfig、HikariDataSource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桌面程式多人使用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Web 專案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連線池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高頻資料庫存取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DriverManager 適合入門；連線池適合專案。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預設常使用 HikariCP。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資料庫連線池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31. HikariCP HikariDataSource：完整範例（1/2）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com.zaxxer.hikari.HikariConfig;</a:t>
            </a:r>
            <a:br/>
            <a:r>
              <a:t>import com.zaxxer.hikari.HikariDataSource;</a:t>
            </a:r>
            <a:br/>
            <a:r>
              <a:t>import java.sql.Connection;</a:t>
            </a:r>
            <a:br/>
            <a:r>
              <a:t>import java.sql.PreparedStatement;</a:t>
            </a:r>
            <a:br/>
            <a:r>
              <a:t>import java.sql.ResultSet;</a:t>
            </a:r>
            <a:br/>
            <a:r>
              <a:t/>
            </a:r>
            <a:br/>
            <a:r>
              <a:t>public class HikariApiDemo {</a:t>
            </a:r>
            <a:br/>
            <a:r>
              <a:t>    public static void main(String[] args) throws Exception {</a:t>
            </a:r>
            <a:br/>
            <a:r>
              <a:t>        HikariConfig config = new HikariConfig();</a:t>
            </a:r>
            <a:br/>
            <a:r>
              <a:t>        config.setJdbcUrl("jdbc:mysql://localhost:3306/gjun?serverTimezone=Asia/Taipei");</a:t>
            </a:r>
            <a:br/>
            <a:r>
              <a:t>        config.setUsername("root");</a:t>
            </a:r>
            <a:br/>
            <a:r>
              <a:t>        config.setPassword("1234");</a:t>
            </a:r>
            <a:br/>
            <a:r>
              <a:t>        config.setMaximumPoolSize(10);</a:t>
            </a:r>
            <a:br/>
            <a:r>
              <a:t/>
            </a:r>
            <a:br/>
            <a:r>
              <a:t>        try (HikariDataSource ds = new HikariDataSource(config);</a:t>
            </a:r>
            <a:br/>
            <a:r>
              <a:t>             Connection conn = ds.getConnection();</a:t>
            </a:r>
            <a:br/>
            <a:r>
              <a:t>             PreparedStatement ps = conn.prepareStatement("select count(*) from member");</a:t>
            </a:r>
            <a:br/>
            <a:r>
              <a:t>             ResultSet rs = ps.executeQuery()) {</a:t>
            </a:r>
            <a:br/>
            <a:r>
              <a:t/>
            </a:r>
            <a:br/>
            <a:r>
              <a:t>            if (rs.next()) {</a:t>
            </a:r>
            <a:br/>
            <a:r>
              <a:t>                System.out.println("會員數：" + rs.getInt(1));</a:t>
            </a:r>
            <a:br/>
            <a:r>
              <a:t>        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資料庫連線池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31. HikariCP HikariDataSource：完整範例（2/2）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011680"/>
            <a:ext cx="10972800" cy="7315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0">
                <a:solidFill>
                  <a:srgbClr val="EDEDED"/>
                </a:solidFill>
                <a:latin typeface="Microsoft JhengHei"/>
              </a:rPr>
              <a:t>本章重點：用途 → 常用類別 → 專案場景 → 完整範例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3840480"/>
            <a:ext cx="3291840" cy="73152"/>
          </a:xfrm>
          <a:prstGeom prst="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32. REST Controller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Package：org.springframework.web.bind.annotation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建立 RESTful API，讓前端、jQuery、Vue、React 或 n8n 呼叫後端。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@RestController、@RequestMapping、@GetMapping、@PostMapping、@RequestBody、@PathVariable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會員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商品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 API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前後端分離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n8n 串接 Java 後端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Controller 負責接收請求，不直接寫 SQL。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商業邏輯放 Service，資料存取放 DAO/Repository。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32. REST Controller Annotations：完整範例（1/2）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org.springframework.web.bind.annotation.GetMapping;</a:t>
            </a:r>
            <a:br/>
            <a:r>
              <a:t>import org.springframework.web.bind.annotation.PathVariable;</a:t>
            </a:r>
            <a:br/>
            <a:r>
              <a:t>import org.springframework.web.bind.annotation.PostMapping;</a:t>
            </a:r>
            <a:br/>
            <a:r>
              <a:t>import org.springframework.web.bind.annotation.RequestBody;</a:t>
            </a:r>
            <a:br/>
            <a:r>
              <a:t>import org.springframework.web.bind.annotation.RequestMapping;</a:t>
            </a:r>
            <a:br/>
            <a:r>
              <a:t>import org.springframework.web.bind.annotation.RestController;</a:t>
            </a:r>
            <a:br/>
            <a:r>
              <a:t/>
            </a:r>
            <a:br/>
            <a:r>
              <a:t>import java.util.ArrayList;</a:t>
            </a:r>
            <a:br/>
            <a:r>
              <a:t>import java.util.List;</a:t>
            </a:r>
            <a:br/>
            <a:r>
              <a:t/>
            </a:r>
            <a:br/>
            <a:r>
              <a:t>class MemberDto {</a:t>
            </a:r>
            <a:br/>
            <a:r>
              <a:t>    public Integer id;</a:t>
            </a:r>
            <a:br/>
            <a:r>
              <a:t>    public String name;</a:t>
            </a:r>
            <a:br/>
            <a:r>
              <a:t>}</a:t>
            </a:r>
            <a:br/>
            <a:r>
              <a:t/>
            </a:r>
            <a:br/>
            <a:r>
              <a:t>@RestController</a:t>
            </a:r>
            <a:br/>
            <a:r>
              <a:t>@RequestMapping("/api/members")</a:t>
            </a:r>
            <a:br/>
            <a:r>
              <a:t>public class MemberRestController {</a:t>
            </a:r>
            <a:br/>
            <a:r>
              <a:t>    private List&lt;MemberDto&gt; members = new ArrayList&lt;&gt;();</a:t>
            </a:r>
            <a:br/>
            <a:r>
              <a:t/>
            </a:r>
            <a:br/>
            <a:r>
              <a:t>    @GetMapping</a:t>
            </a:r>
            <a:br/>
            <a:r>
              <a:t>    public List&lt;MemberDto&gt; findAll()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32. REST Controller Annotations：完整範例（2/2）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    return members;</a:t>
            </a:r>
            <a:br/>
            <a:r>
              <a:t>    }</a:t>
            </a:r>
            <a:br/>
            <a:r>
              <a:t/>
            </a:r>
            <a:br/>
            <a:r>
              <a:t>    @GetMapping("/{id}")</a:t>
            </a:r>
            <a:br/>
            <a:r>
              <a:t>    public MemberDto findById(@PathVariable Integer id) {</a:t>
            </a:r>
            <a:br/>
            <a:r>
              <a:t>        return members.stream()</a:t>
            </a:r>
            <a:br/>
            <a:r>
              <a:t>                .filter(m -&gt; m.id.equals(id))</a:t>
            </a:r>
            <a:br/>
            <a:r>
              <a:t>                .findFirst()</a:t>
            </a:r>
            <a:br/>
            <a:r>
              <a:t>                .orElseThrow(() -&gt; new RuntimeException("找不到會員"));</a:t>
            </a:r>
            <a:br/>
            <a:r>
              <a:t>    }</a:t>
            </a:r>
            <a:br/>
            <a:r>
              <a:t/>
            </a:r>
            <a:br/>
            <a:r>
              <a:t>    @PostMapping</a:t>
            </a:r>
            <a:br/>
            <a:r>
              <a:t>    public MemberDto add(@RequestBody MemberDto member) {</a:t>
            </a:r>
            <a:br/>
            <a:r>
              <a:t>        members.add(member);</a:t>
            </a:r>
            <a:br/>
            <a:r>
              <a:t>        return member;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33. Bean Validation Annotations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Package：jakarta.validation / javax.validation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731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用途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28800"/>
            <a:ext cx="416052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b="1">
                <a:solidFill>
                  <a:srgbClr val="21395C"/>
                </a:solidFill>
                <a:latin typeface="Microsoft JhengHei"/>
              </a:rPr>
              <a:t>驗證表單與 API 輸入資料，避免髒資料進入系統。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544068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874519"/>
            <a:ext cx="105156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常用類別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886200" cy="5303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@NotBlank、@NotNull、@Size、@Email、@Valid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3949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218688"/>
            <a:ext cx="1920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專案應用場景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註冊會員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新增商品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訂單送出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API 請求驗證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971800"/>
            <a:ext cx="54406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218688"/>
            <a:ext cx="1371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700" b="1">
                <a:solidFill>
                  <a:srgbClr val="367D62"/>
                </a:solidFill>
                <a:latin typeface="Microsoft JhengHei"/>
              </a:rPr>
              <a:t>教學提醒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617720" cy="14173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3 使用 jakarta.validation。</a:t>
            </a:r>
          </a:p>
          <a:p>
            <a:pPr>
              <a:spcAft>
                <a:spcPts val="400"/>
              </a:spcAft>
              <a:defRPr sz="1500">
                <a:solidFill>
                  <a:srgbClr val="21395C"/>
                </a:solidFill>
                <a:latin typeface="Microsoft JhengHei"/>
              </a:defRPr>
            </a:pPr>
            <a:r>
              <a:t>Spring Boot 2 常見 javax.validation。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33. Bean Validation Annotations：完整範例（1/2）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860">
                <a:solidFill>
                  <a:srgbClr val="F1F1F1"/>
                </a:solidFill>
                <a:latin typeface="Consolas"/>
              </a:defRPr>
            </a:pPr>
            <a:r>
              <a:t>import jakarta.validation.Valid;</a:t>
            </a:r>
            <a:br/>
            <a:r>
              <a:t>import jakarta.validation.constraints.Email;</a:t>
            </a:r>
            <a:br/>
            <a:r>
              <a:t>import jakarta.validation.constraints.NotBlank;</a:t>
            </a:r>
            <a:br/>
            <a:r>
              <a:t>import jakarta.validation.constraints.Size;</a:t>
            </a:r>
            <a:br/>
            <a:r>
              <a:t>import org.springframework.web.bind.annotation.PostMapping;</a:t>
            </a:r>
            <a:br/>
            <a:r>
              <a:t>import org.springframework.web.bind.annotation.RequestBody;</a:t>
            </a:r>
            <a:br/>
            <a:r>
              <a:t>import org.springframework.web.bind.annotation.RestController;</a:t>
            </a:r>
            <a:br/>
            <a:r>
              <a:t/>
            </a:r>
            <a:br/>
            <a:r>
              <a:t>class RegisterRequest {</a:t>
            </a:r>
            <a:br/>
            <a:r>
              <a:t>    @NotBlank(message = "姓名不可空白")</a:t>
            </a:r>
            <a:br/>
            <a:r>
              <a:t>    public String name;</a:t>
            </a:r>
            <a:br/>
            <a:r>
              <a:t/>
            </a:r>
            <a:br/>
            <a:r>
              <a:t>    @Email(message = "Email 格式錯誤")</a:t>
            </a:r>
            <a:br/>
            <a:r>
              <a:t>    public String email;</a:t>
            </a:r>
            <a:br/>
            <a:r>
              <a:t/>
            </a:r>
            <a:br/>
            <a:r>
              <a:t>    @Size(min = 6, message = "密碼至少 6 碼")</a:t>
            </a:r>
            <a:br/>
            <a:r>
              <a:t>    public String password;</a:t>
            </a:r>
            <a:br/>
            <a:r>
              <a:t>}</a:t>
            </a:r>
            <a:br/>
            <a:r>
              <a:t/>
            </a:r>
            <a:br/>
            <a:r>
              <a:t>@RestController</a:t>
            </a:r>
            <a:br/>
            <a:r>
              <a:t>public class ValidationController {</a:t>
            </a:r>
            <a:br/>
            <a:r>
              <a:t>    @PostMapping("/api/register")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Spring Boot 常用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33. Bean Validation Annotations：完整範例（2/2）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可直接複製到 Eclipse / Maven 專案測試。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719072"/>
            <a:ext cx="11201400" cy="4645152"/>
          </a:xfrm>
          <a:prstGeom prst="rect">
            <a:avLst/>
          </a:prstGeom>
          <a:solidFill>
            <a:srgbClr val="23272F"/>
          </a:solidFill>
          <a:ln>
            <a:solidFill>
              <a:srgbClr val="2327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920240"/>
            <a:ext cx="10689336" cy="42976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>
              <a:defRPr sz="919">
                <a:solidFill>
                  <a:srgbClr val="F1F1F1"/>
                </a:solidFill>
                <a:latin typeface="Consolas"/>
              </a:defRPr>
            </a:pPr>
            <a:r>
              <a:t>    public String register(@Valid @RequestBody RegisterRequest request) {</a:t>
            </a:r>
            <a:br/>
            <a:r>
              <a:t>        return "註冊成功：" + request.name;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專案整合範例：MVC + DAO + API 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把 API 放回專案分層，學生才知道何時使用。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88366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84708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LocalDateTime、BigDecimal、Objects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56248" y="188366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dao.impl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84708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Connection、PreparedStatement、ResultSet、List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39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20954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service.impl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7296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Stream、Optional、BigDecimal、Exception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063239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56248" y="320954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controller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17296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Swing Event / REST Annotation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891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53542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util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49884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Properties、Files、DateTimeFormatter、DBUtil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389120"/>
            <a:ext cx="516636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6248" y="4535424"/>
            <a:ext cx="12344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 b="1">
                <a:solidFill>
                  <a:srgbClr val="E7893C"/>
                </a:solidFill>
                <a:latin typeface="Microsoft JhengHei"/>
              </a:rPr>
              <a:t>exception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498848"/>
            <a:ext cx="3383280" cy="411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400" b="1">
                <a:solidFill>
                  <a:srgbClr val="21395C"/>
                </a:solidFill>
                <a:latin typeface="Microsoft JhengHei"/>
              </a:rPr>
              <a:t>RuntimeException、自訂例外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課堂作業設計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用 API 組合成可展示的完整專案。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241280" cy="320040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900">
                <a:solidFill>
                  <a:srgbClr val="21395C"/>
                </a:solidFill>
                <a:latin typeface="Microsoft JhengHei"/>
              </a:defRPr>
            </a:pPr>
            <a:r>
              <a:t>作業 1：會員管理 GUI，使用 List、JTable、JDBC、Exception。</a:t>
            </a:r>
          </a:p>
          <a:p>
            <a:pPr>
              <a:spcAft>
                <a:spcPts val="400"/>
              </a:spcAft>
              <a:defRPr sz="1900">
                <a:solidFill>
                  <a:srgbClr val="21395C"/>
                </a:solidFill>
                <a:latin typeface="Microsoft JhengHei"/>
              </a:defRPr>
            </a:pPr>
            <a:r>
              <a:t>作業 2：商品訂單金額，使用 Map、BigDecimal、Stream。</a:t>
            </a:r>
          </a:p>
          <a:p>
            <a:pPr>
              <a:spcAft>
                <a:spcPts val="400"/>
              </a:spcAft>
              <a:defRPr sz="1900">
                <a:solidFill>
                  <a:srgbClr val="21395C"/>
                </a:solidFill>
                <a:latin typeface="Microsoft JhengHei"/>
              </a:defRPr>
            </a:pPr>
            <a:r>
              <a:t>作業 3：Excel 匯出報表，使用 Apache POI、Files、DateTimeFormatter。</a:t>
            </a:r>
          </a:p>
          <a:p>
            <a:pPr>
              <a:spcAft>
                <a:spcPts val="400"/>
              </a:spcAft>
              <a:defRPr sz="1900">
                <a:solidFill>
                  <a:srgbClr val="21395C"/>
                </a:solidFill>
                <a:latin typeface="Microsoft JhengHei"/>
              </a:defRPr>
            </a:pPr>
            <a:r>
              <a:t>作業 4：REST API 串接，使用 HttpClient、Jackson ObjectMapper。</a:t>
            </a:r>
          </a:p>
          <a:p>
            <a:pPr>
              <a:spcAft>
                <a:spcPts val="400"/>
              </a:spcAft>
              <a:defRPr sz="1900">
                <a:solidFill>
                  <a:srgbClr val="21395C"/>
                </a:solidFill>
                <a:latin typeface="Microsoft JhengHei"/>
              </a:defRPr>
            </a:pPr>
            <a:r>
              <a:t>作業 5：Service 單元測試，使用 JUnit、Mockito。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1395C"/>
          </a:solidFill>
          <a:ln>
            <a:solidFill>
              <a:srgbClr val="21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28346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100" b="0">
                <a:solidFill>
                  <a:srgbClr val="EAEAEA"/>
                </a:solidFill>
                <a:latin typeface="Microsoft JhengHe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86384"/>
            <a:ext cx="11247120" cy="6583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2400" b="1">
                <a:solidFill>
                  <a:srgbClr val="21395C"/>
                </a:solidFill>
                <a:latin typeface="Microsoft JhengHei"/>
              </a:rPr>
              <a:t>參考文件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1417320"/>
            <a:ext cx="1106424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Microsoft JhengHei"/>
              </a:rPr>
              <a:t>建議課後讓學生對照官方文件與範例練習。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1099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5212080" cy="39319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Oracle Java SE 11 API Documentation: https://docs.oracle.com/en/java/javase/11/docs/api/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Oracle Java Tutorials - Collections, Concurrency, JDBC: https://docs.oracle.com/javase/tutorial/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Jackson Databind ObjectMapper: https://fasterxml.github.io/jackson-databind/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Apache POI Documentation: https://poi.apache.org/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SLF4J Manual: https://www.slf4j.org/manual.html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737360"/>
            <a:ext cx="5120640" cy="3931920"/>
          </a:xfrm>
          <a:prstGeom prst="rect">
            <a:avLst/>
          </a:prstGeom>
          <a:noFill/>
        </p:spPr>
        <p:txBody>
          <a:bodyPr wrap="square" lIns="73152" tIns="27432" rIns="73152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JUnit 5 User Guide: https://junit.org/junit5/docs/current/user-guide/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Mockito Documentation: https://site.mockito.org/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HikariCP GitHub Documentation: https://github.com/brettwooldridge/HikariCP</a:t>
            </a:r>
          </a:p>
          <a:p>
            <a:pPr>
              <a:spcAft>
                <a:spcPts val="400"/>
              </a:spcAft>
              <a:defRPr sz="1100">
                <a:solidFill>
                  <a:srgbClr val="21395C"/>
                </a:solidFill>
                <a:latin typeface="Microsoft JhengHei"/>
              </a:defRPr>
            </a:pPr>
            <a:r>
              <a:t>Spring Framework Web MVC Documentation: https://docs.spring.io/spring-framework/reference/web/webmvc.html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6547104"/>
            <a:ext cx="7498079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800" b="0">
                <a:solidFill>
                  <a:srgbClr val="5F6368"/>
                </a:solidFill>
                <a:latin typeface="Microsoft JhengHei"/>
              </a:rPr>
              <a:t>Java API 完整教材｜JDK 11｜MVC + DAO｜MySQL｜Spring Boot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80160"/>
            <a:ext cx="107899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JhengHei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7755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 dirty="0">
                <a:solidFill>
                  <a:srgbClr val="F5F5F5"/>
                </a:solidFill>
                <a:latin typeface="Microsoft JhengHei"/>
              </a:rPr>
              <a:t>Java API </a:t>
            </a:r>
            <a:r>
              <a:rPr sz="2400" b="1" dirty="0" err="1">
                <a:solidFill>
                  <a:srgbClr val="F5F5F5"/>
                </a:solidFill>
                <a:latin typeface="Microsoft JhengHei"/>
              </a:rPr>
              <a:t>的教學核心不是背類別，</a:t>
            </a:r>
            <a:r>
              <a:rPr sz="2400" b="1" dirty="0" err="1" smtClean="0">
                <a:solidFill>
                  <a:srgbClr val="F5F5F5"/>
                </a:solidFill>
                <a:latin typeface="Microsoft JhengHei"/>
              </a:rPr>
              <a:t>而是知道</a:t>
            </a:r>
            <a:r>
              <a:rPr sz="2400" b="1" dirty="0" err="1">
                <a:solidFill>
                  <a:srgbClr val="F5F5F5"/>
                </a:solidFill>
                <a:latin typeface="Microsoft JhengHei"/>
              </a:rPr>
              <a:t>「何時用、怎麼用、放在哪一層</a:t>
            </a:r>
            <a:r>
              <a:rPr sz="2400" b="1" dirty="0">
                <a:solidFill>
                  <a:srgbClr val="F5F5F5"/>
                </a:solidFill>
                <a:latin typeface="Microsoft JhengHei"/>
              </a:rPr>
              <a:t>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3749039"/>
            <a:ext cx="8138160" cy="914400"/>
          </a:xfrm>
          <a:prstGeom prst="roundRect">
            <a:avLst/>
          </a:prstGeom>
          <a:solidFill>
            <a:srgbClr val="E7893C"/>
          </a:solidFill>
          <a:ln>
            <a:solidFill>
              <a:srgbClr val="E789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331720" y="4005072"/>
            <a:ext cx="749807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JhengHei"/>
              </a:rPr>
              <a:t>API → Pattern → Project →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4471</Words>
  <Application>Microsoft Office PowerPoint</Application>
  <PresentationFormat>寬螢幕</PresentationFormat>
  <Paragraphs>919</Paragraphs>
  <Slides>116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116</vt:i4>
      </vt:variant>
    </vt:vector>
  </HeadingPairs>
  <TitlesOfParts>
    <vt:vector size="121" baseType="lpstr"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student</cp:lastModifiedBy>
  <cp:revision>3</cp:revision>
  <dcterms:created xsi:type="dcterms:W3CDTF">2013-01-27T09:14:16Z</dcterms:created>
  <dcterms:modified xsi:type="dcterms:W3CDTF">2026-07-07T01:32:46Z</dcterms:modified>
  <cp:category/>
</cp:coreProperties>
</file>